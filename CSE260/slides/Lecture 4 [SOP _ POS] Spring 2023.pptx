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ZuCsKHf7iewBbbkS2U5dvWRQq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587EE0-52A7-4785-A7B7-6AC150BB2882}">
  <a:tblStyle styleId="{20587EE0-52A7-4785-A7B7-6AC150BB28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84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536244" y="1130935"/>
            <a:ext cx="8065134" cy="3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xels.com/photo/dandelion-macro-photography-51426/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19000"/>
            <a:lum/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>
            <a:fillRect l="-17000" r="-17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536244" y="1130935"/>
            <a:ext cx="8065134" cy="3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www.pexels.com/photo/dandelion-macro-photography-51426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2088642" y="1778584"/>
            <a:ext cx="4967605" cy="136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5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CSE260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Logic Design</a:t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382000" y="6096000"/>
            <a:ext cx="609600" cy="6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307340" y="1917573"/>
            <a:ext cx="8608060" cy="394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56870" marR="0" lvl="0" indent="-34480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-US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Sum-of-Products (SOP) Expression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product term or a logical sum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(OR) of several product terms.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306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x+yz', xy'+x'yz, AB+A'B’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342900" lvl="0" indent="3505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Product-of-Sums (POS) Expression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sum term or a logical product  (AND) of several sum terms.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322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x(y+z'), (x+y')(x'+y+z), (A+B)(A'+B’)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5080" lvl="0" indent="-34480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boolean expression can either be expressed as sum-of-products or  product-of-sums expression.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322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3600" y="5854601"/>
            <a:ext cx="40290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0;p2">
            <a:extLst>
              <a:ext uri="{FF2B5EF4-FFF2-40B4-BE49-F238E27FC236}">
                <a16:creationId xmlns:a16="http://schemas.microsoft.com/office/drawing/2014/main" id="{878EBB3E-69D2-48C0-B1F4-A37DD3EE1274}"/>
              </a:ext>
            </a:extLst>
          </p:cNvPr>
          <p:cNvSpPr txBox="1">
            <a:spLocks/>
          </p:cNvSpPr>
          <p:nvPr/>
        </p:nvSpPr>
        <p:spPr>
          <a:xfrm>
            <a:off x="3201403" y="422217"/>
            <a:ext cx="3067685" cy="56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sz="3600" b="1" dirty="0"/>
              <a:t>SOP &amp; 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>
            <a:spLocks noGrp="1"/>
          </p:cNvSpPr>
          <p:nvPr>
            <p:ph type="title"/>
          </p:nvPr>
        </p:nvSpPr>
        <p:spPr>
          <a:xfrm>
            <a:off x="2869183" y="2795473"/>
            <a:ext cx="3410585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MIN &amp; MAX TERM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612444" y="1060526"/>
            <a:ext cx="8138795" cy="236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Minterms</a:t>
            </a:r>
            <a:r>
              <a:rPr lang="en-US" sz="24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 are sum terms.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For Boolean functions, the </a:t>
            </a:r>
            <a:r>
              <a:rPr lang="en-US" sz="2400" b="1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minterms</a:t>
            </a:r>
            <a:r>
              <a:rPr lang="en-US" sz="2400" b="1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 of a  function are the terms for which the result  is 1.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841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Boolean functions can be expressed as sum-  of-</a:t>
            </a:r>
            <a:r>
              <a:rPr lang="en-US" sz="2400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Minterms</a:t>
            </a:r>
            <a:r>
              <a:rPr lang="en-US" sz="24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8;p6">
            <a:extLst>
              <a:ext uri="{FF2B5EF4-FFF2-40B4-BE49-F238E27FC236}">
                <a16:creationId xmlns:a16="http://schemas.microsoft.com/office/drawing/2014/main" id="{224497EC-C4EF-4CC4-8CFF-A5F0DDD3278B}"/>
              </a:ext>
            </a:extLst>
          </p:cNvPr>
          <p:cNvSpPr txBox="1"/>
          <p:nvPr/>
        </p:nvSpPr>
        <p:spPr>
          <a:xfrm>
            <a:off x="612444" y="3919136"/>
            <a:ext cx="8138795" cy="230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Maxterms are Product terms.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For Boolean functions, the maxterms of a  function are the terms for which the result  is 0.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03822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Boolean functions can be expressed as  Products-of-Maxterms.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6;p4">
            <a:extLst>
              <a:ext uri="{FF2B5EF4-FFF2-40B4-BE49-F238E27FC236}">
                <a16:creationId xmlns:a16="http://schemas.microsoft.com/office/drawing/2014/main" id="{5B28EB82-635C-431C-98EC-95B1E88656CF}"/>
              </a:ext>
            </a:extLst>
          </p:cNvPr>
          <p:cNvSpPr txBox="1">
            <a:spLocks/>
          </p:cNvSpPr>
          <p:nvPr/>
        </p:nvSpPr>
        <p:spPr>
          <a:xfrm>
            <a:off x="2976548" y="167449"/>
            <a:ext cx="3410585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sz="3200" dirty="0"/>
              <a:t>MIN &amp; MAX TERM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2823464" y="483488"/>
            <a:ext cx="350139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MIN and MAX</a:t>
            </a:r>
            <a:endParaRPr dirty="0"/>
          </a:p>
        </p:txBody>
      </p:sp>
      <p:sp>
        <p:nvSpPr>
          <p:cNvPr id="86" name="Google Shape;86;p7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7"/>
          <p:cNvGraphicFramePr/>
          <p:nvPr>
            <p:extLst>
              <p:ext uri="{D42A27DB-BD31-4B8C-83A1-F6EECF244321}">
                <p14:modId xmlns:p14="http://schemas.microsoft.com/office/powerpoint/2010/main" val="19278438"/>
              </p:ext>
            </p:extLst>
          </p:nvPr>
        </p:nvGraphicFramePr>
        <p:xfrm>
          <a:off x="506998" y="1759737"/>
          <a:ext cx="2874650" cy="3338525"/>
        </p:xfrm>
        <a:graphic>
          <a:graphicData uri="http://schemas.openxmlformats.org/drawingml/2006/table">
            <a:tbl>
              <a:tblPr firstRow="1" bandRow="1">
                <a:noFill/>
                <a:tableStyleId>{20587EE0-52A7-4785-A7B7-6AC150BB2882}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8" name="Google Shape;88;p7"/>
          <p:cNvSpPr txBox="1"/>
          <p:nvPr/>
        </p:nvSpPr>
        <p:spPr>
          <a:xfrm>
            <a:off x="4214370" y="2122231"/>
            <a:ext cx="4220967" cy="261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Min Terms	: 0,1,4,5  [000,001,100,101]  F=∑(0,1,4,5)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203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Max Terms : 2,3,6,7  [010,011,110,111]  F=</a:t>
            </a:r>
            <a:r>
              <a:rPr lang="en-US" sz="2400" b="1" dirty="0">
                <a:solidFill>
                  <a:srgbClr val="006FC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(2,3,6,7)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99" y="1556820"/>
            <a:ext cx="7586663" cy="477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6355" y="180785"/>
            <a:ext cx="64579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C4634A-B1E2-42EB-BB99-9912B1E4DD30}"/>
              </a:ext>
            </a:extLst>
          </p:cNvPr>
          <p:cNvSpPr txBox="1"/>
          <p:nvPr/>
        </p:nvSpPr>
        <p:spPr>
          <a:xfrm>
            <a:off x="857481" y="1033600"/>
            <a:ext cx="7212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x and y are random variables used for understanding purpose</a:t>
            </a:r>
          </a:p>
          <a:p>
            <a:r>
              <a:rPr lang="en-US" dirty="0"/>
              <a:t>and do not represent any specific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536244" y="392633"/>
            <a:ext cx="523049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</a:rPr>
              <a:t>Conversion between MIN &amp; MAX</a:t>
            </a:r>
            <a:endParaRPr sz="2800"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1"/>
          </p:nvPr>
        </p:nvSpPr>
        <p:spPr>
          <a:xfrm>
            <a:off x="536244" y="1130935"/>
            <a:ext cx="8065134" cy="3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F2 =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/>
              <a:t>(m1,m4,m5,m6,m7)</a:t>
            </a:r>
            <a:endParaRPr/>
          </a:p>
          <a:p>
            <a:pPr marL="356870" lvl="0" indent="-344805" algn="l" rtl="0">
              <a:lnSpc>
                <a:spcPct val="11975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The complement function of F2 is:</a:t>
            </a:r>
            <a:endParaRPr/>
          </a:p>
          <a:p>
            <a:pPr marL="927100" lvl="0" indent="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F2' =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400"/>
              <a:t>(m0,m2,m3) = m0 + m2 + m3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marR="3574415" lvl="0" indent="0" algn="ctr" rtl="0">
              <a:lnSpc>
                <a:spcPct val="100000"/>
              </a:lnSpc>
              <a:spcBef>
                <a:spcPts val="2420"/>
              </a:spcBef>
              <a:spcAft>
                <a:spcPts val="0"/>
              </a:spcAft>
              <a:buNone/>
            </a:pPr>
            <a:r>
              <a:rPr lang="en-US"/>
              <a:t>F2 = (m0 + m2 + m3 )'</a:t>
            </a:r>
            <a:endParaRPr/>
          </a:p>
          <a:p>
            <a:pPr marL="0" marR="358330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= </a:t>
            </a: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m0' . m2' . m3'</a:t>
            </a:r>
            <a:endParaRPr/>
          </a:p>
          <a:p>
            <a:pPr marL="12776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= </a:t>
            </a: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M0 . M2 . M3</a:t>
            </a:r>
            <a:endParaRPr/>
          </a:p>
          <a:p>
            <a:pPr marL="12776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=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/>
              <a:t>(M0,M2,M3)</a:t>
            </a:r>
            <a:endParaRPr/>
          </a:p>
          <a:p>
            <a:pPr marL="12700" marR="5080" lvl="0" indent="0" algn="l" rtl="0">
              <a:lnSpc>
                <a:spcPct val="8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/>
              <a:t>Every Boolean function can be expressed as either Sum-of-Minterms or  Product-of-Maxterms.</a:t>
            </a:r>
            <a:endParaRPr/>
          </a:p>
        </p:txBody>
      </p:sp>
      <p:graphicFrame>
        <p:nvGraphicFramePr>
          <p:cNvPr id="110" name="Google Shape;110;p10"/>
          <p:cNvGraphicFramePr/>
          <p:nvPr/>
        </p:nvGraphicFramePr>
        <p:xfrm>
          <a:off x="6797136" y="1066892"/>
          <a:ext cx="2088550" cy="2739771"/>
        </p:xfrm>
        <a:graphic>
          <a:graphicData uri="http://schemas.openxmlformats.org/drawingml/2006/table">
            <a:tbl>
              <a:tblPr firstRow="1" bandRow="1">
                <a:noFill/>
                <a:tableStyleId>{20587EE0-52A7-4785-A7B7-6AC150BB2882}</a:tableStyleId>
              </a:tblPr>
              <a:tblGrid>
                <a:gridCol w="36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9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255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9144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23189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F2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065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F2'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100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3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3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3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3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3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9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900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846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9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9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975">
                <a:tc>
                  <a:txBody>
                    <a:bodyPr/>
                    <a:lstStyle/>
                    <a:p>
                      <a:pPr marL="36830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80010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44145" lvl="0" indent="0" algn="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851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3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52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MIN-SOP and MAX-POS</a:t>
            </a:r>
            <a:endParaRPr dirty="0"/>
          </a:p>
        </p:txBody>
      </p:sp>
      <p:sp>
        <p:nvSpPr>
          <p:cNvPr id="101" name="Google Shape;101;p9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9"/>
          <p:cNvGraphicFramePr/>
          <p:nvPr/>
        </p:nvGraphicFramePr>
        <p:xfrm>
          <a:off x="471487" y="1382775"/>
          <a:ext cx="1731650" cy="3816325"/>
        </p:xfrm>
        <a:graphic>
          <a:graphicData uri="http://schemas.openxmlformats.org/drawingml/2006/table">
            <a:tbl>
              <a:tblPr firstRow="1" bandRow="1">
                <a:noFill/>
                <a:tableStyleId>{20587EE0-52A7-4785-A7B7-6AC150BB2882}</a:tableStyleId>
              </a:tblPr>
              <a:tblGrid>
                <a:gridCol w="2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7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6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050">
                <a:tc>
                  <a:txBody>
                    <a:bodyPr/>
                    <a:lstStyle/>
                    <a:p>
                      <a:pPr marL="0" marR="488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3" name="Google Shape;103;p9"/>
          <p:cNvSpPr txBox="1"/>
          <p:nvPr/>
        </p:nvSpPr>
        <p:spPr>
          <a:xfrm>
            <a:off x="2515808" y="2100867"/>
            <a:ext cx="6832377" cy="274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25590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Min Terms	: 0,1,4,5	[000,001,100,101]  F=∑(0,1,4,5)  </a:t>
            </a:r>
          </a:p>
          <a:p>
            <a:pPr marL="12700" marR="25590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F=A’B’C’+A’B’C+AB’C’+AB’C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3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Max Terms : 2,3,6,7 [010,011,110,111]  F=</a:t>
            </a:r>
            <a:r>
              <a:rPr lang="en-US" sz="2400" b="1" dirty="0">
                <a:solidFill>
                  <a:srgbClr val="006FC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(2,3,6,7)  </a:t>
            </a: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F=(A+B’+C)(A+B’+C’)(A’+B’+C) (A’+B’+C’)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1963673" y="1854784"/>
            <a:ext cx="5372100" cy="136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41425" marR="5080" lvl="0" indent="-1229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Simplified Function to  SOP &amp; POS</a:t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2320544" y="1914220"/>
            <a:ext cx="4733290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How to Covert into SOP: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695350" y="2825953"/>
            <a:ext cx="7981315" cy="17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Check if each term contains all variable, if not then  AND (x+x’) if x is the missing term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Function, F=A+B’C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1344930" y="483488"/>
            <a:ext cx="645160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Convert into SOP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536244" y="1624965"/>
            <a:ext cx="7755500" cy="370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F=A+B’C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=A(B+B’)(C+C’)+B’C(A+A’)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=(AB+AB’)(C+C’)+B’C(A+A’)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=AB(C+C’)+AB’(C+C’)+B’C(A+A’)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=ABC+ABC’+</a:t>
            </a:r>
            <a:r>
              <a:rPr lang="en-US" sz="2800" b="1" i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AB’C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+AB’C’+</a:t>
            </a:r>
            <a:r>
              <a:rPr lang="en-US" sz="2800" b="1" i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AB’C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+A’B’C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=ABC+ABC’+AB’C+AB’C’+A’B’C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=∑(1,4,5,6,7)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612444" y="633425"/>
            <a:ext cx="4733290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How to Covert into POS: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12444" y="1545717"/>
            <a:ext cx="7866380" cy="396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11150" marR="0" lvl="0" indent="-2990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Often distributive law (</a:t>
            </a:r>
            <a:r>
              <a:rPr lang="en-US" sz="2800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x+yz</a:t>
            </a: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)=(</a:t>
            </a:r>
            <a:r>
              <a:rPr lang="en-US" sz="2800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x+y</a:t>
            </a: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)(</a:t>
            </a:r>
            <a:r>
              <a:rPr lang="en-US" sz="2800" dirty="0" err="1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x+z</a:t>
            </a: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)) is used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2C2C89"/>
              </a:buClr>
              <a:buSzPts val="2900"/>
              <a:buFont typeface="+mj-lt"/>
              <a:buAutoNum type="arabicPeriod"/>
            </a:pPr>
            <a:endParaRPr sz="2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0515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If then terms, like x, are missing, OR xx’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2C2C89"/>
              </a:buClr>
              <a:buSzPts val="2900"/>
              <a:buFont typeface="+mj-lt"/>
              <a:buAutoNum type="arabicPeriod"/>
            </a:pPr>
            <a:endParaRPr sz="2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706755" lvl="0" indent="-1714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Each POS is missing a term so OR missing  terms</a:t>
            </a:r>
            <a:r>
              <a:rPr lang="en-US" sz="2800" dirty="0">
                <a:solidFill>
                  <a:schemeClr val="dk1"/>
                </a:solidFill>
              </a:rPr>
              <a:t>, </a:t>
            </a:r>
            <a:r>
              <a:rPr lang="en-US" sz="2800" dirty="0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Again apply distributive law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Function, F=A+B’C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1439417" y="483488"/>
            <a:ext cx="626491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Convert into POS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838200" y="1600198"/>
            <a:ext cx="7010400" cy="51541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11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17000" r="-17000"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Example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00" y="1676400"/>
            <a:ext cx="7010400" cy="475746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457200" y="847725"/>
            <a:ext cx="7772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SOP and POS for F(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w,x,y,z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wy+x’z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235048" y="1262042"/>
            <a:ext cx="6739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Example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543050"/>
            <a:ext cx="7467600" cy="506259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4;p16">
            <a:extLst>
              <a:ext uri="{FF2B5EF4-FFF2-40B4-BE49-F238E27FC236}">
                <a16:creationId xmlns:a16="http://schemas.microsoft.com/office/drawing/2014/main" id="{F3AEF942-8E6E-4B66-85BA-BF77A6F63451}"/>
              </a:ext>
            </a:extLst>
          </p:cNvPr>
          <p:cNvSpPr/>
          <p:nvPr/>
        </p:nvSpPr>
        <p:spPr>
          <a:xfrm>
            <a:off x="457200" y="847725"/>
            <a:ext cx="7772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SOP and POS for F(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w,x,y,z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wy+x’z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p16">
            <a:extLst>
              <a:ext uri="{FF2B5EF4-FFF2-40B4-BE49-F238E27FC236}">
                <a16:creationId xmlns:a16="http://schemas.microsoft.com/office/drawing/2014/main" id="{626B1C7A-FD4B-432C-9517-5687E838F7F5}"/>
              </a:ext>
            </a:extLst>
          </p:cNvPr>
          <p:cNvSpPr/>
          <p:nvPr/>
        </p:nvSpPr>
        <p:spPr>
          <a:xfrm>
            <a:off x="4235048" y="1262042"/>
            <a:ext cx="6739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592</Words>
  <Application>Microsoft Office PowerPoint</Application>
  <PresentationFormat>On-screen Show (4:3)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Office Theme</vt:lpstr>
      <vt:lpstr>CSE260 Digital Logic Design</vt:lpstr>
      <vt:lpstr>PowerPoint Presentation</vt:lpstr>
      <vt:lpstr>MIN &amp; MAX TERM</vt:lpstr>
      <vt:lpstr>PowerPoint Presentation</vt:lpstr>
      <vt:lpstr>MIN and MAX</vt:lpstr>
      <vt:lpstr>PowerPoint Presentation</vt:lpstr>
      <vt:lpstr>Conversion between MIN &amp; MAX</vt:lpstr>
      <vt:lpstr>MIN-SOP and MAX-POS</vt:lpstr>
      <vt:lpstr>Simplified Function to  SOP &amp; POS</vt:lpstr>
      <vt:lpstr>How to Covert into SOP:</vt:lpstr>
      <vt:lpstr>How To Convert into SOP</vt:lpstr>
      <vt:lpstr>How to Covert into POS:</vt:lpstr>
      <vt:lpstr>How to Convert into POS</vt:lpstr>
      <vt:lpstr>Another Example</vt:lpstr>
      <vt:lpstr>Another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CSE260 Digital Logic Design</dc:title>
  <dc:creator>khadija rasul</dc:creator>
  <cp:lastModifiedBy>Dewan Ziaul Karim</cp:lastModifiedBy>
  <cp:revision>5</cp:revision>
  <dcterms:created xsi:type="dcterms:W3CDTF">2022-06-15T04:50:23Z</dcterms:created>
  <dcterms:modified xsi:type="dcterms:W3CDTF">2022-10-12T06:36:55Z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2022-06-15T00:00:00Z</vt:filetime>
  </property>
</Properties>
</file>