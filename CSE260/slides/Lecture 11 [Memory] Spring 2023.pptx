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ml" Extension="xml"/>
  <Default ContentType="image/png" Extension="png"/>
  <Default ContentType="application/msword" Extension="doc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msword" PartName="/ppt/embeddings/Microsoft_Office_Word_97_-_2003_Document1.doc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j/RdwRoqFiHIam87Ja5RN7Rh5l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316D2B-9D2F-4E74-B655-80ADE7D03B6D}">
  <a:tblStyle styleId="{BB316D2B-9D2F-4E74-B655-80ADE7D03B6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customschemas.google.com/relationships/presentationmetadata" Target="meta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2e91df9019_3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g22e91df9019_3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22e91df9019_3_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6" name="Google Shape;446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ctrTitle"/>
          </p:nvPr>
        </p:nvSpPr>
        <p:spPr>
          <a:xfrm>
            <a:off x="1173163" y="13414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" type="subTitle"/>
          </p:nvPr>
        </p:nvSpPr>
        <p:spPr>
          <a:xfrm>
            <a:off x="1166813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1680"/>
              <a:buFont typeface="Arial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u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v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0" type="dt"/>
          </p:nvPr>
        </p:nvSpPr>
        <p:spPr>
          <a:xfrm>
            <a:off x="1166812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>
            <a:off x="1143000" y="12954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u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v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5162550" y="20383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200150" y="1714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u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v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6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6"/>
          <p:cNvSpPr txBox="1"/>
          <p:nvPr>
            <p:ph idx="1" type="body"/>
          </p:nvPr>
        </p:nvSpPr>
        <p:spPr>
          <a:xfrm rot="5400000">
            <a:off x="2781300" y="-342900"/>
            <a:ext cx="4495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u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v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6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7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7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7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5" name="Google Shape;95;p27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7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7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8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8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640"/>
              </a:spcBef>
              <a:spcAft>
                <a:spcPts val="0"/>
              </a:spcAft>
              <a:buSzPts val="2240"/>
              <a:buChar char="●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u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v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1" name="Google Shape;101;p28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2" name="Google Shape;102;p28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8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8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9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9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9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0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0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0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0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1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1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7" name="Google Shape;117;p31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u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v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31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9" name="Google Shape;119;p31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u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v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31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1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1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2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2"/>
          <p:cNvSpPr txBox="1"/>
          <p:nvPr>
            <p:ph idx="1" type="body"/>
          </p:nvPr>
        </p:nvSpPr>
        <p:spPr>
          <a:xfrm>
            <a:off x="1143000" y="1295400"/>
            <a:ext cx="3810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u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v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32"/>
          <p:cNvSpPr txBox="1"/>
          <p:nvPr>
            <p:ph idx="2" type="body"/>
          </p:nvPr>
        </p:nvSpPr>
        <p:spPr>
          <a:xfrm>
            <a:off x="5105400" y="1295400"/>
            <a:ext cx="3810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u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v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2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2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2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3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3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33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3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3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CC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1"/>
          <p:cNvGrpSpPr/>
          <p:nvPr/>
        </p:nvGrpSpPr>
        <p:grpSpPr>
          <a:xfrm>
            <a:off x="-3175" y="2438400"/>
            <a:ext cx="9149556" cy="1063625"/>
            <a:chOff x="-2" y="1536"/>
            <a:chExt cx="5764" cy="670"/>
          </a:xfrm>
        </p:grpSpPr>
        <p:grpSp>
          <p:nvGrpSpPr>
            <p:cNvPr id="11" name="Google Shape;11;p21"/>
            <p:cNvGrpSpPr/>
            <p:nvPr/>
          </p:nvGrpSpPr>
          <p:grpSpPr>
            <a:xfrm flipH="1">
              <a:off x="-2" y="1562"/>
              <a:ext cx="5764" cy="639"/>
              <a:chOff x="-4" y="1562"/>
              <a:chExt cx="5763" cy="639"/>
            </a:xfrm>
          </p:grpSpPr>
          <p:sp>
            <p:nvSpPr>
              <p:cNvPr id="12" name="Google Shape;12;p21"/>
              <p:cNvSpPr/>
              <p:nvPr/>
            </p:nvSpPr>
            <p:spPr>
              <a:xfrm rot="-5400000">
                <a:off x="2557" y="-992"/>
                <a:ext cx="624" cy="5745"/>
              </a:xfrm>
              <a:custGeom>
                <a:rect b="b" l="l" r="r" t="t"/>
                <a:pathLst>
                  <a:path extrusionOk="0" h="720" w="100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21"/>
              <p:cNvSpPr/>
              <p:nvPr/>
            </p:nvSpPr>
            <p:spPr>
              <a:xfrm rot="-5400000">
                <a:off x="1321" y="1669"/>
                <a:ext cx="624" cy="421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1"/>
              <p:cNvSpPr/>
              <p:nvPr/>
            </p:nvSpPr>
            <p:spPr>
              <a:xfrm rot="-5400000">
                <a:off x="982" y="1669"/>
                <a:ext cx="624" cy="422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1"/>
              <p:cNvSpPr/>
              <p:nvPr/>
            </p:nvSpPr>
            <p:spPr>
              <a:xfrm rot="-5400000">
                <a:off x="-58" y="1752"/>
                <a:ext cx="624" cy="255"/>
              </a:xfrm>
              <a:custGeom>
                <a:rect b="b" l="l" r="r" t="t"/>
                <a:pathLst>
                  <a:path extrusionOk="0" h="370" w="624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1"/>
              <p:cNvSpPr/>
              <p:nvPr/>
            </p:nvSpPr>
            <p:spPr>
              <a:xfrm rot="-5400000">
                <a:off x="664" y="1733"/>
                <a:ext cx="624" cy="294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1"/>
              <p:cNvSpPr/>
              <p:nvPr/>
            </p:nvSpPr>
            <p:spPr>
              <a:xfrm rot="-5400000">
                <a:off x="442" y="1699"/>
                <a:ext cx="624" cy="362"/>
              </a:xfrm>
              <a:custGeom>
                <a:rect b="b" l="l" r="r" t="t"/>
                <a:pathLst>
                  <a:path extrusionOk="0" h="272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21"/>
              <p:cNvSpPr/>
              <p:nvPr/>
            </p:nvSpPr>
            <p:spPr>
              <a:xfrm rot="-5400000">
                <a:off x="154" y="1727"/>
                <a:ext cx="632" cy="315"/>
              </a:xfrm>
              <a:custGeom>
                <a:rect b="b" l="l" r="r" t="t"/>
                <a:pathLst>
                  <a:path extrusionOk="0" h="362" w="63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1"/>
              <p:cNvSpPr/>
              <p:nvPr/>
            </p:nvSpPr>
            <p:spPr>
              <a:xfrm rot="-5400000">
                <a:off x="3209" y="1665"/>
                <a:ext cx="624" cy="421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1"/>
              <p:cNvSpPr/>
              <p:nvPr/>
            </p:nvSpPr>
            <p:spPr>
              <a:xfrm rot="-5400000">
                <a:off x="2870" y="1664"/>
                <a:ext cx="624" cy="422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1"/>
              <p:cNvSpPr/>
              <p:nvPr/>
            </p:nvSpPr>
            <p:spPr>
              <a:xfrm rot="-5400000">
                <a:off x="1828" y="1748"/>
                <a:ext cx="624" cy="255"/>
              </a:xfrm>
              <a:custGeom>
                <a:rect b="b" l="l" r="r" t="t"/>
                <a:pathLst>
                  <a:path extrusionOk="0" h="370" w="624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21"/>
              <p:cNvSpPr/>
              <p:nvPr/>
            </p:nvSpPr>
            <p:spPr>
              <a:xfrm rot="-5400000">
                <a:off x="2551" y="1728"/>
                <a:ext cx="624" cy="294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21"/>
              <p:cNvSpPr/>
              <p:nvPr/>
            </p:nvSpPr>
            <p:spPr>
              <a:xfrm rot="-5400000">
                <a:off x="2328" y="1695"/>
                <a:ext cx="624" cy="361"/>
              </a:xfrm>
              <a:custGeom>
                <a:rect b="b" l="l" r="r" t="t"/>
                <a:pathLst>
                  <a:path extrusionOk="0" h="272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21"/>
              <p:cNvSpPr/>
              <p:nvPr/>
            </p:nvSpPr>
            <p:spPr>
              <a:xfrm rot="-5400000">
                <a:off x="2043" y="1721"/>
                <a:ext cx="632" cy="316"/>
              </a:xfrm>
              <a:custGeom>
                <a:rect b="b" l="l" r="r" t="t"/>
                <a:pathLst>
                  <a:path extrusionOk="0" h="362" w="63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21"/>
              <p:cNvSpPr/>
              <p:nvPr/>
            </p:nvSpPr>
            <p:spPr>
              <a:xfrm rot="-5400000">
                <a:off x="4075" y="1669"/>
                <a:ext cx="624" cy="421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21"/>
              <p:cNvSpPr/>
              <p:nvPr/>
            </p:nvSpPr>
            <p:spPr>
              <a:xfrm rot="-5400000">
                <a:off x="3736" y="1669"/>
                <a:ext cx="624" cy="422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21"/>
              <p:cNvSpPr/>
              <p:nvPr/>
            </p:nvSpPr>
            <p:spPr>
              <a:xfrm rot="-5400000">
                <a:off x="4582" y="1748"/>
                <a:ext cx="624" cy="255"/>
              </a:xfrm>
              <a:custGeom>
                <a:rect b="b" l="l" r="r" t="t"/>
                <a:pathLst>
                  <a:path extrusionOk="0" h="370" w="624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21"/>
              <p:cNvSpPr/>
              <p:nvPr/>
            </p:nvSpPr>
            <p:spPr>
              <a:xfrm>
                <a:off x="5469" y="1562"/>
                <a:ext cx="291" cy="625"/>
              </a:xfrm>
              <a:custGeom>
                <a:rect b="b" l="l" r="r" t="t"/>
                <a:pathLst>
                  <a:path extrusionOk="0" h="625" w="291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21"/>
              <p:cNvSpPr/>
              <p:nvPr/>
            </p:nvSpPr>
            <p:spPr>
              <a:xfrm rot="-5400000">
                <a:off x="5082" y="1695"/>
                <a:ext cx="624" cy="361"/>
              </a:xfrm>
              <a:custGeom>
                <a:rect b="b" l="l" r="r" t="t"/>
                <a:pathLst>
                  <a:path extrusionOk="0" h="272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21"/>
              <p:cNvSpPr/>
              <p:nvPr/>
            </p:nvSpPr>
            <p:spPr>
              <a:xfrm rot="-5400000">
                <a:off x="4797" y="1721"/>
                <a:ext cx="632" cy="316"/>
              </a:xfrm>
              <a:custGeom>
                <a:rect b="b" l="l" r="r" t="t"/>
                <a:pathLst>
                  <a:path extrusionOk="0" h="362" w="63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" name="Google Shape;31;p21"/>
            <p:cNvSpPr/>
            <p:nvPr/>
          </p:nvSpPr>
          <p:spPr>
            <a:xfrm flipH="1">
              <a:off x="-2" y="1536"/>
              <a:ext cx="5762" cy="412"/>
            </a:xfrm>
            <a:custGeom>
              <a:rect b="b" l="l" r="r" t="t"/>
              <a:pathLst>
                <a:path extrusionOk="0" h="385" w="5762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767676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1"/>
            <p:cNvSpPr/>
            <p:nvPr/>
          </p:nvSpPr>
          <p:spPr>
            <a:xfrm flipH="1">
              <a:off x="-2" y="2017"/>
              <a:ext cx="5761" cy="189"/>
            </a:xfrm>
            <a:custGeom>
              <a:rect b="b" l="l" r="r" t="t"/>
              <a:pathLst>
                <a:path extrusionOk="0" h="189" w="5761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Google Shape;33;p21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4" name="Google Shape;34;p21"/>
          <p:cNvSpPr txBox="1"/>
          <p:nvPr>
            <p:ph idx="1" type="body"/>
          </p:nvPr>
        </p:nvSpPr>
        <p:spPr>
          <a:xfrm>
            <a:off x="1143000" y="12954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/>
              <a:buChar char="u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2400"/>
              <a:buFont typeface="Arial"/>
              <a:buChar char="v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21"/>
          <p:cNvSpPr txBox="1"/>
          <p:nvPr>
            <p:ph idx="10" type="dt"/>
          </p:nvPr>
        </p:nvSpPr>
        <p:spPr>
          <a:xfrm>
            <a:off x="1166812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21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CC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23"/>
          <p:cNvGrpSpPr/>
          <p:nvPr/>
        </p:nvGrpSpPr>
        <p:grpSpPr>
          <a:xfrm>
            <a:off x="0" y="-7738"/>
            <a:ext cx="1063625" cy="6860976"/>
            <a:chOff x="0" y="-5"/>
            <a:chExt cx="670" cy="4322"/>
          </a:xfrm>
        </p:grpSpPr>
        <p:grpSp>
          <p:nvGrpSpPr>
            <p:cNvPr id="46" name="Google Shape;46;p23"/>
            <p:cNvGrpSpPr/>
            <p:nvPr/>
          </p:nvGrpSpPr>
          <p:grpSpPr>
            <a:xfrm flipH="1" rot="-5400000">
              <a:off x="-1816" y="1837"/>
              <a:ext cx="4322" cy="639"/>
              <a:chOff x="-5" y="1562"/>
              <a:chExt cx="5765" cy="639"/>
            </a:xfrm>
          </p:grpSpPr>
          <p:sp>
            <p:nvSpPr>
              <p:cNvPr id="47" name="Google Shape;47;p23"/>
              <p:cNvSpPr/>
              <p:nvPr/>
            </p:nvSpPr>
            <p:spPr>
              <a:xfrm rot="-5400000">
                <a:off x="2556" y="-991"/>
                <a:ext cx="624" cy="5745"/>
              </a:xfrm>
              <a:custGeom>
                <a:rect b="b" l="l" r="r" t="t"/>
                <a:pathLst>
                  <a:path extrusionOk="0" h="720" w="100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3"/>
              <p:cNvSpPr/>
              <p:nvPr/>
            </p:nvSpPr>
            <p:spPr>
              <a:xfrm rot="-5400000">
                <a:off x="1322" y="1669"/>
                <a:ext cx="624" cy="421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23"/>
              <p:cNvSpPr/>
              <p:nvPr/>
            </p:nvSpPr>
            <p:spPr>
              <a:xfrm rot="-5400000">
                <a:off x="979" y="1669"/>
                <a:ext cx="624" cy="423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23"/>
              <p:cNvSpPr/>
              <p:nvPr/>
            </p:nvSpPr>
            <p:spPr>
              <a:xfrm rot="-5400000">
                <a:off x="-59" y="1753"/>
                <a:ext cx="624" cy="255"/>
              </a:xfrm>
              <a:custGeom>
                <a:rect b="b" l="l" r="r" t="t"/>
                <a:pathLst>
                  <a:path extrusionOk="0" h="370" w="624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23"/>
              <p:cNvSpPr/>
              <p:nvPr/>
            </p:nvSpPr>
            <p:spPr>
              <a:xfrm rot="-5400000">
                <a:off x="663" y="1733"/>
                <a:ext cx="624" cy="293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23"/>
              <p:cNvSpPr/>
              <p:nvPr/>
            </p:nvSpPr>
            <p:spPr>
              <a:xfrm rot="-5400000">
                <a:off x="441" y="1699"/>
                <a:ext cx="624" cy="363"/>
              </a:xfrm>
              <a:custGeom>
                <a:rect b="b" l="l" r="r" t="t"/>
                <a:pathLst>
                  <a:path extrusionOk="0" h="272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23"/>
              <p:cNvSpPr/>
              <p:nvPr/>
            </p:nvSpPr>
            <p:spPr>
              <a:xfrm rot="-5400000">
                <a:off x="154" y="1727"/>
                <a:ext cx="632" cy="315"/>
              </a:xfrm>
              <a:custGeom>
                <a:rect b="b" l="l" r="r" t="t"/>
                <a:pathLst>
                  <a:path extrusionOk="0" h="362" w="63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23"/>
              <p:cNvSpPr/>
              <p:nvPr/>
            </p:nvSpPr>
            <p:spPr>
              <a:xfrm rot="-5400000">
                <a:off x="3208" y="1664"/>
                <a:ext cx="624" cy="420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23"/>
              <p:cNvSpPr/>
              <p:nvPr/>
            </p:nvSpPr>
            <p:spPr>
              <a:xfrm rot="-5400000">
                <a:off x="2869" y="1664"/>
                <a:ext cx="624" cy="421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23"/>
              <p:cNvSpPr/>
              <p:nvPr/>
            </p:nvSpPr>
            <p:spPr>
              <a:xfrm rot="-5400000">
                <a:off x="1829" y="1747"/>
                <a:ext cx="624" cy="256"/>
              </a:xfrm>
              <a:custGeom>
                <a:rect b="b" l="l" r="r" t="t"/>
                <a:pathLst>
                  <a:path extrusionOk="0" h="370" w="624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23"/>
              <p:cNvSpPr/>
              <p:nvPr/>
            </p:nvSpPr>
            <p:spPr>
              <a:xfrm rot="-5400000">
                <a:off x="2550" y="1728"/>
                <a:ext cx="624" cy="293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23"/>
              <p:cNvSpPr/>
              <p:nvPr/>
            </p:nvSpPr>
            <p:spPr>
              <a:xfrm rot="-5400000">
                <a:off x="2330" y="1695"/>
                <a:ext cx="624" cy="360"/>
              </a:xfrm>
              <a:custGeom>
                <a:rect b="b" l="l" r="r" t="t"/>
                <a:pathLst>
                  <a:path extrusionOk="0" h="272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23"/>
              <p:cNvSpPr/>
              <p:nvPr/>
            </p:nvSpPr>
            <p:spPr>
              <a:xfrm rot="-5400000">
                <a:off x="2042" y="1721"/>
                <a:ext cx="632" cy="316"/>
              </a:xfrm>
              <a:custGeom>
                <a:rect b="b" l="l" r="r" t="t"/>
                <a:pathLst>
                  <a:path extrusionOk="0" h="362" w="63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23"/>
              <p:cNvSpPr/>
              <p:nvPr/>
            </p:nvSpPr>
            <p:spPr>
              <a:xfrm rot="-5400000">
                <a:off x="4075" y="1668"/>
                <a:ext cx="624" cy="421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23"/>
              <p:cNvSpPr/>
              <p:nvPr/>
            </p:nvSpPr>
            <p:spPr>
              <a:xfrm rot="-5400000">
                <a:off x="3732" y="1668"/>
                <a:ext cx="624" cy="423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23"/>
              <p:cNvSpPr/>
              <p:nvPr/>
            </p:nvSpPr>
            <p:spPr>
              <a:xfrm rot="-5400000">
                <a:off x="4579" y="1747"/>
                <a:ext cx="624" cy="255"/>
              </a:xfrm>
              <a:custGeom>
                <a:rect b="b" l="l" r="r" t="t"/>
                <a:pathLst>
                  <a:path extrusionOk="0" h="370" w="624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23"/>
              <p:cNvSpPr/>
              <p:nvPr/>
            </p:nvSpPr>
            <p:spPr>
              <a:xfrm>
                <a:off x="5469" y="1562"/>
                <a:ext cx="291" cy="625"/>
              </a:xfrm>
              <a:custGeom>
                <a:rect b="b" l="l" r="r" t="t"/>
                <a:pathLst>
                  <a:path extrusionOk="0" h="625" w="291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23"/>
              <p:cNvSpPr/>
              <p:nvPr/>
            </p:nvSpPr>
            <p:spPr>
              <a:xfrm rot="-5400000">
                <a:off x="5080" y="1693"/>
                <a:ext cx="624" cy="361"/>
              </a:xfrm>
              <a:custGeom>
                <a:rect b="b" l="l" r="r" t="t"/>
                <a:pathLst>
                  <a:path extrusionOk="0" h="272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23"/>
              <p:cNvSpPr/>
              <p:nvPr/>
            </p:nvSpPr>
            <p:spPr>
              <a:xfrm rot="-5400000">
                <a:off x="4794" y="1720"/>
                <a:ext cx="632" cy="316"/>
              </a:xfrm>
              <a:custGeom>
                <a:rect b="b" l="l" r="r" t="t"/>
                <a:pathLst>
                  <a:path extrusionOk="0" h="362" w="63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" name="Google Shape;66;p23"/>
            <p:cNvSpPr/>
            <p:nvPr/>
          </p:nvSpPr>
          <p:spPr>
            <a:xfrm flipH="1" rot="-5400000">
              <a:off x="-1954" y="1951"/>
              <a:ext cx="4320" cy="412"/>
            </a:xfrm>
            <a:custGeom>
              <a:rect b="b" l="l" r="r" t="t"/>
              <a:pathLst>
                <a:path extrusionOk="0" h="385" w="5762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76767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3"/>
            <p:cNvSpPr/>
            <p:nvPr/>
          </p:nvSpPr>
          <p:spPr>
            <a:xfrm flipH="1" rot="-5400000">
              <a:off x="-1584" y="2062"/>
              <a:ext cx="4319" cy="189"/>
            </a:xfrm>
            <a:custGeom>
              <a:rect b="b" l="l" r="r" t="t"/>
              <a:pathLst>
                <a:path extrusionOk="0" h="189" w="5761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23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1143000" y="12954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/>
              <a:buChar char="u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2400"/>
              <a:buFont typeface="Arial"/>
              <a:buChar char="v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Microsoft_Office_Word_97_-_2003_Document1.doc"/><Relationship Id="rId5" Type="http://schemas.openxmlformats.org/officeDocument/2006/relationships/oleObject" Target="../embeddings/Microsoft_Office_Word_97_-_2003_Document1.doc"/><Relationship Id="rId6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/>
          <p:nvPr>
            <p:ph idx="1" type="subTitle"/>
          </p:nvPr>
        </p:nvSpPr>
        <p:spPr>
          <a:xfrm>
            <a:off x="1166812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rPr b="1" i="0" lang="en-US" sz="3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BRAC University</a:t>
            </a:r>
            <a:endParaRPr/>
          </a:p>
        </p:txBody>
      </p:sp>
      <p:sp>
        <p:nvSpPr>
          <p:cNvPr id="142" name="Google Shape;142;p1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"/>
          <p:cNvSpPr txBox="1"/>
          <p:nvPr>
            <p:ph type="title"/>
          </p:nvPr>
        </p:nvSpPr>
        <p:spPr>
          <a:xfrm>
            <a:off x="1143000" y="100012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Memory Unit?</a:t>
            </a:r>
            <a:endParaRPr/>
          </a:p>
        </p:txBody>
      </p:sp>
      <p:sp>
        <p:nvSpPr>
          <p:cNvPr id="148" name="Google Shape;148;p2"/>
          <p:cNvSpPr txBox="1"/>
          <p:nvPr>
            <p:ph idx="1" type="body"/>
          </p:nvPr>
        </p:nvSpPr>
        <p:spPr>
          <a:xfrm>
            <a:off x="1143000" y="7620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unit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collection of registers together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associated circuits needed to transfer information in and out of registers.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cell: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 elementary unit of 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 storage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(i.e. memory register)  that can have one or the other of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two stable </a:t>
            </a:r>
            <a:b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states 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 can thus 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 one bit of information.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memory cell is 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electronic circuit that stores one bit of binary information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and it must be set to store a logic 1 (high voltage level) and reset to store a logic 0 (low voltage level). Its value is maintained/stored until it is changed by the set/reset process.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memory unit stores binary information in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groups of bits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called </a:t>
            </a:r>
            <a:r>
              <a:rPr b="0" i="1" lang="en-US" sz="18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words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Communication between memory unit and its environment is achieved through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controls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read and write) and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external registers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(memory address register and memory buffer register).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communicate with a memory word, its address is transferred to 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address register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Internal circuit then opens the path to 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word. A n-bit address register  can specify up to 2^n address. (note: # of address=# of word)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 writing and after reading information are kept in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Buffer registers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In each case, the address register specifies location of writing or reading.</a:t>
            </a:r>
            <a:endParaRPr/>
          </a:p>
        </p:txBody>
      </p:sp>
      <p:sp>
        <p:nvSpPr>
          <p:cNvPr id="149" name="Google Shape;149;p2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3"/>
          <p:cNvSpPr txBox="1"/>
          <p:nvPr>
            <p:ph idx="1" type="body"/>
          </p:nvPr>
        </p:nvSpPr>
        <p:spPr>
          <a:xfrm>
            <a:off x="1143000" y="12954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622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57" name="Google Shape;1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022350"/>
            <a:ext cx="7620000" cy="56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WRITE Operation Example</a:t>
            </a:r>
            <a:endParaRPr/>
          </a:p>
        </p:txBody>
      </p:sp>
      <p:sp>
        <p:nvSpPr>
          <p:cNvPr id="163" name="Google Shape;163;p4"/>
          <p:cNvSpPr txBox="1"/>
          <p:nvPr>
            <p:ph idx="1" type="body"/>
          </p:nvPr>
        </p:nvSpPr>
        <p:spPr>
          <a:xfrm>
            <a:off x="1143000" y="12954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622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65" name="Google Shape;16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390650"/>
            <a:ext cx="7772400" cy="508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Access Memory (RAM)</a:t>
            </a:r>
            <a:endParaRPr/>
          </a:p>
        </p:txBody>
      </p:sp>
      <p:sp>
        <p:nvSpPr>
          <p:cNvPr id="172" name="Google Shape;172;p5"/>
          <p:cNvSpPr txBox="1"/>
          <p:nvPr>
            <p:ph idx="1" type="body"/>
          </p:nvPr>
        </p:nvSpPr>
        <p:spPr>
          <a:xfrm>
            <a:off x="1143000" y="1295400"/>
            <a:ext cx="769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Content of a 1024 x 16-bit memory:</a:t>
            </a:r>
            <a:endParaRPr/>
          </a:p>
        </p:txBody>
      </p:sp>
      <p:grpSp>
        <p:nvGrpSpPr>
          <p:cNvPr id="173" name="Google Shape;173;p5"/>
          <p:cNvGrpSpPr/>
          <p:nvPr/>
        </p:nvGrpSpPr>
        <p:grpSpPr>
          <a:xfrm>
            <a:off x="2362200" y="2209800"/>
            <a:ext cx="4953000" cy="3052762"/>
            <a:chOff x="1488" y="1392"/>
            <a:chExt cx="3120" cy="1923"/>
          </a:xfrm>
        </p:grpSpPr>
        <p:sp>
          <p:nvSpPr>
            <p:cNvPr id="174" name="Google Shape;174;p5"/>
            <p:cNvSpPr txBox="1"/>
            <p:nvPr/>
          </p:nvSpPr>
          <p:spPr>
            <a:xfrm>
              <a:off x="3216" y="1872"/>
              <a:ext cx="1392" cy="144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5"/>
            <p:cNvSpPr txBox="1"/>
            <p:nvPr/>
          </p:nvSpPr>
          <p:spPr>
            <a:xfrm>
              <a:off x="3216" y="1920"/>
              <a:ext cx="1392" cy="13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urier New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1011010111011101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urier New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1010000110000110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urier New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0010011101110001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urier New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urier New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urier New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1110010101010010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urier New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0011111010101110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urier New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1011000110010101</a:t>
              </a:r>
              <a:endParaRPr/>
            </a:p>
          </p:txBody>
        </p:sp>
        <p:sp>
          <p:nvSpPr>
            <p:cNvPr id="176" name="Google Shape;176;p5"/>
            <p:cNvSpPr txBox="1"/>
            <p:nvPr/>
          </p:nvSpPr>
          <p:spPr>
            <a:xfrm>
              <a:off x="3264" y="1584"/>
              <a:ext cx="124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Memory content</a:t>
              </a:r>
              <a:endParaRPr/>
            </a:p>
          </p:txBody>
        </p:sp>
        <p:sp>
          <p:nvSpPr>
            <p:cNvPr id="177" name="Google Shape;177;p5"/>
            <p:cNvSpPr txBox="1"/>
            <p:nvPr/>
          </p:nvSpPr>
          <p:spPr>
            <a:xfrm>
              <a:off x="2448" y="1632"/>
              <a:ext cx="72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decimal</a:t>
              </a:r>
              <a:endParaRPr/>
            </a:p>
          </p:txBody>
        </p:sp>
        <p:sp>
          <p:nvSpPr>
            <p:cNvPr id="178" name="Google Shape;178;p5"/>
            <p:cNvSpPr txBox="1"/>
            <p:nvPr/>
          </p:nvSpPr>
          <p:spPr>
            <a:xfrm>
              <a:off x="2592" y="1920"/>
              <a:ext cx="432" cy="13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1021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1022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1023</a:t>
              </a:r>
              <a:endParaRPr/>
            </a:p>
          </p:txBody>
        </p:sp>
        <p:sp>
          <p:nvSpPr>
            <p:cNvPr id="179" name="Google Shape;179;p5"/>
            <p:cNvSpPr txBox="1"/>
            <p:nvPr/>
          </p:nvSpPr>
          <p:spPr>
            <a:xfrm>
              <a:off x="1488" y="1920"/>
              <a:ext cx="864" cy="13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0000000000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0000000001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0000000010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1111111101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1111111110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1111111111</a:t>
              </a:r>
              <a:endParaRPr/>
            </a:p>
          </p:txBody>
        </p:sp>
        <p:sp>
          <p:nvSpPr>
            <p:cNvPr id="180" name="Google Shape;180;p5"/>
            <p:cNvSpPr txBox="1"/>
            <p:nvPr/>
          </p:nvSpPr>
          <p:spPr>
            <a:xfrm>
              <a:off x="1632" y="1632"/>
              <a:ext cx="62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binary</a:t>
              </a:r>
              <a:endParaRPr/>
            </a:p>
          </p:txBody>
        </p:sp>
        <p:sp>
          <p:nvSpPr>
            <p:cNvPr id="181" name="Google Shape;181;p5"/>
            <p:cNvSpPr txBox="1"/>
            <p:nvPr/>
          </p:nvSpPr>
          <p:spPr>
            <a:xfrm>
              <a:off x="1728" y="1392"/>
              <a:ext cx="12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Memory address</a:t>
              </a:r>
              <a:endParaRPr/>
            </a:p>
          </p:txBody>
        </p:sp>
        <p:cxnSp>
          <p:nvCxnSpPr>
            <p:cNvPr id="182" name="Google Shape;182;p5"/>
            <p:cNvCxnSpPr/>
            <p:nvPr/>
          </p:nvCxnSpPr>
          <p:spPr>
            <a:xfrm>
              <a:off x="1584" y="1632"/>
              <a:ext cx="153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3" name="Google Shape;183;p5"/>
            <p:cNvCxnSpPr/>
            <p:nvPr/>
          </p:nvCxnSpPr>
          <p:spPr>
            <a:xfrm>
              <a:off x="1584" y="1872"/>
              <a:ext cx="72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4" name="Google Shape;184;p5"/>
            <p:cNvCxnSpPr/>
            <p:nvPr/>
          </p:nvCxnSpPr>
          <p:spPr>
            <a:xfrm>
              <a:off x="2496" y="1872"/>
              <a:ext cx="624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185" name="Google Shape;185;p5"/>
          <p:cNvSpPr/>
          <p:nvPr/>
        </p:nvSpPr>
        <p:spPr>
          <a:xfrm rot="5400000">
            <a:off x="342900" y="48387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darken" h="120000" w="120000"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none" h="120000" w="120000"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rgbClr val="FFFFFF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 rot="5400000">
            <a:off x="342900" y="52959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96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</a:path>
              <a:path extrusionOk="0" fill="darken" h="120000" w="120000">
                <a:moveTo>
                  <a:pt x="96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</a:path>
              <a:path extrusionOk="0" fill="none" h="120000" w="120000">
                <a:moveTo>
                  <a:pt x="96000" y="60000"/>
                </a:moveTo>
                <a:lnTo>
                  <a:pt x="24000" y="105000"/>
                </a:lnTo>
                <a:lnTo>
                  <a:pt x="24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 rot="5400000">
            <a:off x="342900" y="43815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24000" y="15000"/>
                </a:lnTo>
                <a:lnTo>
                  <a:pt x="24000" y="105000"/>
                </a:lnTo>
                <a:lnTo>
                  <a:pt x="33000" y="105000"/>
                </a:lnTo>
                <a:close/>
              </a:path>
              <a:path extrusionOk="0" fill="darken" h="120000" w="120000"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24000" y="15000"/>
                </a:lnTo>
                <a:lnTo>
                  <a:pt x="24000" y="105000"/>
                </a:lnTo>
                <a:lnTo>
                  <a:pt x="33000" y="105000"/>
                </a:lnTo>
                <a:close/>
              </a:path>
              <a:path extrusionOk="0" fill="none" h="120000" w="120000"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33000" y="105000"/>
                </a:lnTo>
                <a:lnTo>
                  <a:pt x="24000" y="105000"/>
                </a:lnTo>
                <a:lnTo>
                  <a:pt x="24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 rot="5400000">
            <a:off x="342900" y="57531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78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darken" h="120000" w="120000">
                <a:moveTo>
                  <a:pt x="78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none" h="120000" w="120000">
                <a:moveTo>
                  <a:pt x="78000" y="60000"/>
                </a:moveTo>
                <a:lnTo>
                  <a:pt x="24000" y="105000"/>
                </a:lnTo>
                <a:lnTo>
                  <a:pt x="24000" y="1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Access Memory (RAM)</a:t>
            </a:r>
            <a:endParaRPr/>
          </a:p>
        </p:txBody>
      </p:sp>
      <p:sp>
        <p:nvSpPr>
          <p:cNvPr id="196" name="Google Shape;196;p6"/>
          <p:cNvSpPr txBox="1"/>
          <p:nvPr>
            <p:ph idx="1" type="body"/>
          </p:nvPr>
        </p:nvSpPr>
        <p:spPr>
          <a:xfrm>
            <a:off x="538162" y="1103312"/>
            <a:ext cx="76962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data consists of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lines (for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-bit words).  </a:t>
            </a:r>
            <a:r>
              <a:rPr b="0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Data input lines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provide the information to be stored (</a:t>
            </a:r>
            <a:r>
              <a:rPr b="0" i="1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written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into the memory, while </a:t>
            </a:r>
            <a:r>
              <a:rPr b="0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data output lines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carry the information out (</a:t>
            </a:r>
            <a:r>
              <a:rPr b="0" i="1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from the memory.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consists of </a:t>
            </a:r>
            <a:r>
              <a:rPr b="0" i="1" lang="en-US" sz="24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n-US" sz="24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lines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specify which word (among the </a:t>
            </a:r>
            <a:r>
              <a:rPr b="0" i="0" lang="en-US" sz="24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1" lang="en-US" sz="24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n-US" sz="24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words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available) to be selected for reading or writing.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control lines </a:t>
            </a:r>
            <a:r>
              <a:rPr b="0" i="1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Write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(usually combined into a single control line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Read/Write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specifies the direction of transfer of the data.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 memory unit of 1024 words with 8 bit/word needs, 10 address line (i.e. address register must contain 10 FF) and buffer register must have 8 FF to store words transferred in and out of it.</a:t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 rot="5400000">
            <a:off x="342900" y="48387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darken" h="120000" w="120000"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none" h="120000" w="120000"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rgbClr val="FFFFFF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 rot="5400000">
            <a:off x="342900" y="52959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96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</a:path>
              <a:path extrusionOk="0" fill="darken" h="120000" w="120000">
                <a:moveTo>
                  <a:pt x="96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</a:path>
              <a:path extrusionOk="0" fill="none" h="120000" w="120000">
                <a:moveTo>
                  <a:pt x="96000" y="60000"/>
                </a:moveTo>
                <a:lnTo>
                  <a:pt x="24000" y="105000"/>
                </a:lnTo>
                <a:lnTo>
                  <a:pt x="24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 rot="5400000">
            <a:off x="342900" y="43815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24000" y="15000"/>
                </a:lnTo>
                <a:lnTo>
                  <a:pt x="24000" y="105000"/>
                </a:lnTo>
                <a:lnTo>
                  <a:pt x="33000" y="105000"/>
                </a:lnTo>
                <a:close/>
              </a:path>
              <a:path extrusionOk="0" fill="darken" h="120000" w="120000"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24000" y="15000"/>
                </a:lnTo>
                <a:lnTo>
                  <a:pt x="24000" y="105000"/>
                </a:lnTo>
                <a:lnTo>
                  <a:pt x="33000" y="105000"/>
                </a:lnTo>
                <a:close/>
              </a:path>
              <a:path extrusionOk="0" fill="none" h="120000" w="120000"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33000" y="105000"/>
                </a:lnTo>
                <a:lnTo>
                  <a:pt x="24000" y="105000"/>
                </a:lnTo>
                <a:lnTo>
                  <a:pt x="24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 rot="5400000">
            <a:off x="342900" y="57531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78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darken" h="120000" w="120000">
                <a:moveTo>
                  <a:pt x="78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none" h="120000" w="120000">
                <a:moveTo>
                  <a:pt x="78000" y="60000"/>
                </a:moveTo>
                <a:lnTo>
                  <a:pt x="24000" y="105000"/>
                </a:lnTo>
                <a:lnTo>
                  <a:pt x="24000" y="1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Access Memory (RAM)</a:t>
            </a:r>
            <a:endParaRPr/>
          </a:p>
        </p:txBody>
      </p:sp>
      <p:sp>
        <p:nvSpPr>
          <p:cNvPr id="208" name="Google Shape;208;p7"/>
          <p:cNvSpPr txBox="1"/>
          <p:nvPr>
            <p:ph idx="1" type="body"/>
          </p:nvPr>
        </p:nvSpPr>
        <p:spPr>
          <a:xfrm>
            <a:off x="1143000" y="1295400"/>
            <a:ext cx="769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diagram of a memory unit:</a:t>
            </a:r>
            <a:endParaRPr/>
          </a:p>
        </p:txBody>
      </p:sp>
      <p:grpSp>
        <p:nvGrpSpPr>
          <p:cNvPr id="209" name="Google Shape;209;p7"/>
          <p:cNvGrpSpPr/>
          <p:nvPr/>
        </p:nvGrpSpPr>
        <p:grpSpPr>
          <a:xfrm>
            <a:off x="2438400" y="1981200"/>
            <a:ext cx="4572000" cy="3841750"/>
            <a:chOff x="1296" y="1152"/>
            <a:chExt cx="2880" cy="2420"/>
          </a:xfrm>
        </p:grpSpPr>
        <p:sp>
          <p:nvSpPr>
            <p:cNvPr id="210" name="Google Shape;210;p7"/>
            <p:cNvSpPr txBox="1"/>
            <p:nvPr/>
          </p:nvSpPr>
          <p:spPr>
            <a:xfrm>
              <a:off x="2832" y="1872"/>
              <a:ext cx="1344" cy="91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7"/>
            <p:cNvSpPr txBox="1"/>
            <p:nvPr/>
          </p:nvSpPr>
          <p:spPr>
            <a:xfrm>
              <a:off x="2928" y="1920"/>
              <a:ext cx="1152" cy="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Memory unit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1" baseline="30000" i="1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words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1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bits per word</a:t>
              </a:r>
              <a:endParaRPr/>
            </a:p>
          </p:txBody>
        </p:sp>
        <p:cxnSp>
          <p:nvCxnSpPr>
            <p:cNvPr id="212" name="Google Shape;212;p7"/>
            <p:cNvCxnSpPr/>
            <p:nvPr/>
          </p:nvCxnSpPr>
          <p:spPr>
            <a:xfrm>
              <a:off x="2496" y="2112"/>
              <a:ext cx="33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13" name="Google Shape;213;p7"/>
            <p:cNvCxnSpPr/>
            <p:nvPr/>
          </p:nvCxnSpPr>
          <p:spPr>
            <a:xfrm>
              <a:off x="2496" y="2592"/>
              <a:ext cx="33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214" name="Google Shape;214;p7"/>
            <p:cNvSpPr txBox="1"/>
            <p:nvPr/>
          </p:nvSpPr>
          <p:spPr>
            <a:xfrm>
              <a:off x="1296" y="1968"/>
              <a:ext cx="120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1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address lines</a:t>
              </a:r>
              <a:endParaRPr/>
            </a:p>
          </p:txBody>
        </p:sp>
        <p:cxnSp>
          <p:nvCxnSpPr>
            <p:cNvPr id="215" name="Google Shape;215;p7"/>
            <p:cNvCxnSpPr/>
            <p:nvPr/>
          </p:nvCxnSpPr>
          <p:spPr>
            <a:xfrm flipH="1">
              <a:off x="2592" y="2016"/>
              <a:ext cx="96" cy="19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16" name="Google Shape;216;p7"/>
            <p:cNvSpPr txBox="1"/>
            <p:nvPr/>
          </p:nvSpPr>
          <p:spPr>
            <a:xfrm>
              <a:off x="2496" y="1872"/>
              <a:ext cx="24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1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endParaRPr/>
            </a:p>
          </p:txBody>
        </p:sp>
        <p:grpSp>
          <p:nvGrpSpPr>
            <p:cNvPr id="217" name="Google Shape;217;p7"/>
            <p:cNvGrpSpPr/>
            <p:nvPr/>
          </p:nvGrpSpPr>
          <p:grpSpPr>
            <a:xfrm>
              <a:off x="1584" y="2496"/>
              <a:ext cx="912" cy="231"/>
              <a:chOff x="1584" y="2400"/>
              <a:chExt cx="912" cy="231"/>
            </a:xfrm>
          </p:grpSpPr>
          <p:sp>
            <p:nvSpPr>
              <p:cNvPr id="218" name="Google Shape;218;p7"/>
              <p:cNvSpPr txBox="1"/>
              <p:nvPr/>
            </p:nvSpPr>
            <p:spPr>
              <a:xfrm>
                <a:off x="1584" y="2400"/>
                <a:ext cx="91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1" i="1" lang="en-US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Read</a:t>
                </a:r>
                <a:r>
                  <a:rPr b="1" i="0" lang="en-US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/</a:t>
                </a:r>
                <a:r>
                  <a:rPr b="1" i="1" lang="en-US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Write</a:t>
                </a:r>
                <a:endParaRPr/>
              </a:p>
            </p:txBody>
          </p:sp>
          <p:cxnSp>
            <p:nvCxnSpPr>
              <p:cNvPr id="219" name="Google Shape;219;p7"/>
              <p:cNvCxnSpPr/>
              <p:nvPr/>
            </p:nvCxnSpPr>
            <p:spPr>
              <a:xfrm>
                <a:off x="2082" y="2423"/>
                <a:ext cx="336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cxnSp>
          <p:nvCxnSpPr>
            <p:cNvPr id="220" name="Google Shape;220;p7"/>
            <p:cNvCxnSpPr/>
            <p:nvPr/>
          </p:nvCxnSpPr>
          <p:spPr>
            <a:xfrm rot="5400000">
              <a:off x="3384" y="2952"/>
              <a:ext cx="33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21" name="Google Shape;221;p7"/>
            <p:cNvCxnSpPr/>
            <p:nvPr/>
          </p:nvCxnSpPr>
          <p:spPr>
            <a:xfrm rot="5400000">
              <a:off x="3336" y="1704"/>
              <a:ext cx="33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22" name="Google Shape;222;p7"/>
            <p:cNvCxnSpPr/>
            <p:nvPr/>
          </p:nvCxnSpPr>
          <p:spPr>
            <a:xfrm flipH="1">
              <a:off x="3456" y="1584"/>
              <a:ext cx="96" cy="19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23" name="Google Shape;223;p7"/>
            <p:cNvCxnSpPr/>
            <p:nvPr/>
          </p:nvCxnSpPr>
          <p:spPr>
            <a:xfrm flipH="1">
              <a:off x="3504" y="2832"/>
              <a:ext cx="96" cy="19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24" name="Google Shape;224;p7"/>
            <p:cNvSpPr txBox="1"/>
            <p:nvPr/>
          </p:nvSpPr>
          <p:spPr>
            <a:xfrm>
              <a:off x="3456" y="1584"/>
              <a:ext cx="24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1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225" name="Google Shape;225;p7"/>
            <p:cNvSpPr txBox="1"/>
            <p:nvPr/>
          </p:nvSpPr>
          <p:spPr>
            <a:xfrm>
              <a:off x="3504" y="2832"/>
              <a:ext cx="24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1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226" name="Google Shape;226;p7"/>
            <p:cNvSpPr txBox="1"/>
            <p:nvPr/>
          </p:nvSpPr>
          <p:spPr>
            <a:xfrm>
              <a:off x="3024" y="1152"/>
              <a:ext cx="912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1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data input lines</a:t>
              </a:r>
              <a:endParaRPr/>
            </a:p>
          </p:txBody>
        </p:sp>
        <p:sp>
          <p:nvSpPr>
            <p:cNvPr id="227" name="Google Shape;227;p7"/>
            <p:cNvSpPr txBox="1"/>
            <p:nvPr/>
          </p:nvSpPr>
          <p:spPr>
            <a:xfrm>
              <a:off x="3072" y="3168"/>
              <a:ext cx="960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1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r>
                <a:rPr b="1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data output lines</a:t>
              </a:r>
              <a:endParaRPr/>
            </a:p>
          </p:txBody>
        </p:sp>
      </p:grpSp>
      <p:sp>
        <p:nvSpPr>
          <p:cNvPr id="228" name="Google Shape;228;p7"/>
          <p:cNvSpPr/>
          <p:nvPr/>
        </p:nvSpPr>
        <p:spPr>
          <a:xfrm rot="5400000">
            <a:off x="342900" y="48387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darken" h="120000" w="120000"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none" h="120000" w="120000"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rgbClr val="FFFFFF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 rot="5400000">
            <a:off x="342900" y="52959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96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</a:path>
              <a:path extrusionOk="0" fill="darken" h="120000" w="120000">
                <a:moveTo>
                  <a:pt x="96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</a:path>
              <a:path extrusionOk="0" fill="none" h="120000" w="120000">
                <a:moveTo>
                  <a:pt x="96000" y="60000"/>
                </a:moveTo>
                <a:lnTo>
                  <a:pt x="24000" y="105000"/>
                </a:lnTo>
                <a:lnTo>
                  <a:pt x="24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 rot="5400000">
            <a:off x="342900" y="43815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24000" y="15000"/>
                </a:lnTo>
                <a:lnTo>
                  <a:pt x="24000" y="105000"/>
                </a:lnTo>
                <a:lnTo>
                  <a:pt x="33000" y="105000"/>
                </a:lnTo>
                <a:close/>
              </a:path>
              <a:path extrusionOk="0" fill="darken" h="120000" w="120000"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24000" y="15000"/>
                </a:lnTo>
                <a:lnTo>
                  <a:pt x="24000" y="105000"/>
                </a:lnTo>
                <a:lnTo>
                  <a:pt x="33000" y="105000"/>
                </a:lnTo>
                <a:close/>
              </a:path>
              <a:path extrusionOk="0" fill="none" h="120000" w="120000"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33000" y="105000"/>
                </a:lnTo>
                <a:lnTo>
                  <a:pt x="24000" y="105000"/>
                </a:lnTo>
                <a:lnTo>
                  <a:pt x="24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 rot="5400000">
            <a:off x="342900" y="57531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78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darken" h="120000" w="120000">
                <a:moveTo>
                  <a:pt x="78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none" h="120000" w="120000">
                <a:moveTo>
                  <a:pt x="78000" y="60000"/>
                </a:moveTo>
                <a:lnTo>
                  <a:pt x="24000" y="105000"/>
                </a:lnTo>
                <a:lnTo>
                  <a:pt x="24000" y="1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9" name="Google Shape;239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381000"/>
            <a:ext cx="8204200" cy="64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8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Access Memory (RAM)</a:t>
            </a:r>
            <a:endParaRPr/>
          </a:p>
        </p:txBody>
      </p:sp>
      <p:sp>
        <p:nvSpPr>
          <p:cNvPr id="247" name="Google Shape;247;p9"/>
          <p:cNvSpPr txBox="1"/>
          <p:nvPr>
            <p:ph idx="1" type="body"/>
          </p:nvPr>
        </p:nvSpPr>
        <p:spPr>
          <a:xfrm>
            <a:off x="1143000" y="1295400"/>
            <a:ext cx="76962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Write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operation: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❖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Transfers the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desired word to the address lines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❖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Transfers the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bits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(the word) to be stored in memory to the data input lines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❖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Activates the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control line (set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0)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operation: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❖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Transfers the address of the desired word to the address lines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❖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Activates the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control line (set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1)</a:t>
            </a:r>
            <a:endParaRPr/>
          </a:p>
        </p:txBody>
      </p:sp>
      <p:cxnSp>
        <p:nvCxnSpPr>
          <p:cNvPr id="248" name="Google Shape;248;p9"/>
          <p:cNvCxnSpPr/>
          <p:nvPr/>
        </p:nvCxnSpPr>
        <p:spPr>
          <a:xfrm>
            <a:off x="6692900" y="3087687"/>
            <a:ext cx="533400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49" name="Google Shape;249;p9"/>
          <p:cNvCxnSpPr/>
          <p:nvPr/>
        </p:nvCxnSpPr>
        <p:spPr>
          <a:xfrm>
            <a:off x="6705600" y="4648200"/>
            <a:ext cx="533400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50" name="Google Shape;250;p9"/>
          <p:cNvSpPr/>
          <p:nvPr/>
        </p:nvSpPr>
        <p:spPr>
          <a:xfrm rot="5400000">
            <a:off x="342900" y="48387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darken" h="120000" w="120000"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none" h="120000" w="120000"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rgbClr val="FFFFFF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9"/>
          <p:cNvSpPr/>
          <p:nvPr/>
        </p:nvSpPr>
        <p:spPr>
          <a:xfrm rot="5400000">
            <a:off x="342900" y="52959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96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</a:path>
              <a:path extrusionOk="0" fill="darken" h="120000" w="120000">
                <a:moveTo>
                  <a:pt x="96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</a:path>
              <a:path extrusionOk="0" fill="none" h="120000" w="120000">
                <a:moveTo>
                  <a:pt x="96000" y="60000"/>
                </a:moveTo>
                <a:lnTo>
                  <a:pt x="24000" y="105000"/>
                </a:lnTo>
                <a:lnTo>
                  <a:pt x="24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/>
          <p:nvPr/>
        </p:nvSpPr>
        <p:spPr>
          <a:xfrm rot="5400000">
            <a:off x="342900" y="43815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24000" y="15000"/>
                </a:lnTo>
                <a:lnTo>
                  <a:pt x="24000" y="105000"/>
                </a:lnTo>
                <a:lnTo>
                  <a:pt x="33000" y="105000"/>
                </a:lnTo>
                <a:close/>
              </a:path>
              <a:path extrusionOk="0" fill="darken" h="120000" w="120000"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24000" y="15000"/>
                </a:lnTo>
                <a:lnTo>
                  <a:pt x="24000" y="105000"/>
                </a:lnTo>
                <a:lnTo>
                  <a:pt x="33000" y="105000"/>
                </a:lnTo>
                <a:close/>
              </a:path>
              <a:path extrusionOk="0" fill="none" h="120000" w="120000"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33000" y="105000"/>
                </a:lnTo>
                <a:lnTo>
                  <a:pt x="24000" y="105000"/>
                </a:lnTo>
                <a:lnTo>
                  <a:pt x="24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/>
          <p:nvPr/>
        </p:nvSpPr>
        <p:spPr>
          <a:xfrm rot="5400000">
            <a:off x="342900" y="57531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78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darken" h="120000" w="120000">
                <a:moveTo>
                  <a:pt x="78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none" h="120000" w="120000">
                <a:moveTo>
                  <a:pt x="78000" y="60000"/>
                </a:moveTo>
                <a:lnTo>
                  <a:pt x="24000" y="105000"/>
                </a:lnTo>
                <a:lnTo>
                  <a:pt x="24000" y="1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Access Memory (RAM)</a:t>
            </a:r>
            <a:endParaRPr/>
          </a:p>
        </p:txBody>
      </p:sp>
      <p:sp>
        <p:nvSpPr>
          <p:cNvPr id="261" name="Google Shape;261;p10"/>
          <p:cNvSpPr txBox="1"/>
          <p:nvPr>
            <p:ph idx="1" type="body"/>
          </p:nvPr>
        </p:nvSpPr>
        <p:spPr>
          <a:xfrm>
            <a:off x="1143000" y="1295400"/>
            <a:ext cx="769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Read/Write operation:</a:t>
            </a:r>
            <a:endParaRPr/>
          </a:p>
        </p:txBody>
      </p:sp>
      <p:grpSp>
        <p:nvGrpSpPr>
          <p:cNvPr id="262" name="Google Shape;262;p10"/>
          <p:cNvGrpSpPr/>
          <p:nvPr/>
        </p:nvGrpSpPr>
        <p:grpSpPr>
          <a:xfrm>
            <a:off x="1985962" y="1905000"/>
            <a:ext cx="6369050" cy="1347787"/>
            <a:chOff x="1251" y="1200"/>
            <a:chExt cx="4012" cy="849"/>
          </a:xfrm>
        </p:grpSpPr>
        <p:graphicFrame>
          <p:nvGraphicFramePr>
            <p:cNvPr id="263" name="Google Shape;263;p10"/>
            <p:cNvGraphicFramePr/>
            <p:nvPr/>
          </p:nvGraphicFramePr>
          <p:xfrm>
            <a:off x="1251" y="1200"/>
            <a:ext cx="4012" cy="849"/>
          </p:xfrm>
          <a:graphic>
            <a:graphicData uri="http://schemas.openxmlformats.org/presentationml/2006/ole">
              <mc:AlternateContent>
                <mc:Choice Requires="v">
                  <p:oleObj r:id="rId4" imgH="849" imgW="4012" progId="Word.Document.8" spid="_x0000_s1">
                    <p:embed/>
                  </p:oleObj>
                </mc:Choice>
                <mc:Fallback>
                  <p:oleObj r:id="rId5" imgH="849" imgW="4012" progId="Word.Document.8">
                    <p:embed/>
                    <p:pic>
                      <p:nvPicPr>
                        <p:cNvPr id="263" name="Google Shape;263;p10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1251" y="1200"/>
                          <a:ext cx="4012" cy="8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64" name="Google Shape;264;p10"/>
            <p:cNvCxnSpPr/>
            <p:nvPr/>
          </p:nvCxnSpPr>
          <p:spPr>
            <a:xfrm>
              <a:off x="1296" y="1392"/>
              <a:ext cx="38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265" name="Google Shape;265;p10"/>
          <p:cNvSpPr txBox="1"/>
          <p:nvPr/>
        </p:nvSpPr>
        <p:spPr>
          <a:xfrm>
            <a:off x="1143000" y="3429000"/>
            <a:ext cx="7620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types of RAM: Static and dynamic.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❖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RAMs use flip-flops as the memory cells.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❖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RAMs use capacitor charges to represent data.  Though simpler in circuitry, they have to be constantly refreshed.</a:t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 rot="5400000">
            <a:off x="342900" y="48387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darken" h="120000" w="120000"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none" h="120000" w="120000"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rgbClr val="FFFFFF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0"/>
          <p:cNvSpPr/>
          <p:nvPr/>
        </p:nvSpPr>
        <p:spPr>
          <a:xfrm rot="5400000">
            <a:off x="342900" y="52959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96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</a:path>
              <a:path extrusionOk="0" fill="darken" h="120000" w="120000">
                <a:moveTo>
                  <a:pt x="96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</a:path>
              <a:path extrusionOk="0" fill="none" h="120000" w="120000">
                <a:moveTo>
                  <a:pt x="96000" y="60000"/>
                </a:moveTo>
                <a:lnTo>
                  <a:pt x="24000" y="105000"/>
                </a:lnTo>
                <a:lnTo>
                  <a:pt x="24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0"/>
          <p:cNvSpPr/>
          <p:nvPr/>
        </p:nvSpPr>
        <p:spPr>
          <a:xfrm rot="5400000">
            <a:off x="342900" y="43815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24000" y="15000"/>
                </a:lnTo>
                <a:lnTo>
                  <a:pt x="24000" y="105000"/>
                </a:lnTo>
                <a:lnTo>
                  <a:pt x="33000" y="105000"/>
                </a:lnTo>
                <a:close/>
              </a:path>
              <a:path extrusionOk="0" fill="darken" h="120000" w="120000"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24000" y="15000"/>
                </a:lnTo>
                <a:lnTo>
                  <a:pt x="24000" y="105000"/>
                </a:lnTo>
                <a:lnTo>
                  <a:pt x="33000" y="105000"/>
                </a:lnTo>
                <a:close/>
              </a:path>
              <a:path extrusionOk="0" fill="none" h="120000" w="120000"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33000" y="105000"/>
                </a:lnTo>
                <a:lnTo>
                  <a:pt x="24000" y="105000"/>
                </a:lnTo>
                <a:lnTo>
                  <a:pt x="24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/>
          <p:nvPr/>
        </p:nvSpPr>
        <p:spPr>
          <a:xfrm rot="5400000">
            <a:off x="342900" y="57531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78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darken" h="120000" w="120000">
                <a:moveTo>
                  <a:pt x="78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none" h="120000" w="120000">
                <a:moveTo>
                  <a:pt x="78000" y="60000"/>
                </a:moveTo>
                <a:lnTo>
                  <a:pt x="24000" y="105000"/>
                </a:lnTo>
                <a:lnTo>
                  <a:pt x="24000" y="1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Size</a:t>
            </a:r>
            <a:endParaRPr/>
          </a:p>
        </p:txBody>
      </p:sp>
      <p:sp>
        <p:nvSpPr>
          <p:cNvPr id="276" name="Google Shape;276;p11"/>
          <p:cNvSpPr txBox="1"/>
          <p:nvPr>
            <p:ph idx="1" type="body"/>
          </p:nvPr>
        </p:nvSpPr>
        <p:spPr>
          <a:xfrm>
            <a:off x="1143000" y="12954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sizes might be specified in bits or byte(=8bit)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Symbol: Bytes (B) and bits(b)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Example, 2^28 b = 2^28/8 B= 2^28/2^3 B=2^25 B= 2^5*2^20 B = 32 MB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1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graphicFrame>
        <p:nvGraphicFramePr>
          <p:cNvPr id="278" name="Google Shape;278;p11"/>
          <p:cNvGraphicFramePr/>
          <p:nvPr/>
        </p:nvGraphicFramePr>
        <p:xfrm>
          <a:off x="1143000" y="3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{BB316D2B-9D2F-4E74-B655-80ADE7D03B6D}</a:tableStyleId>
              </a:tblPr>
              <a:tblGrid>
                <a:gridCol w="657225"/>
                <a:gridCol w="1584325"/>
                <a:gridCol w="3702050"/>
                <a:gridCol w="19812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Prefix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 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 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E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Kilo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E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2^10= 1024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E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10^3=1,000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EEC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F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Mega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F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2^20 =1,048,576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F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10^6= 1,000,000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FF6"/>
                    </a:solidFill>
                  </a:tcPr>
                </a:tc>
              </a:tr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E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Giga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E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2^30 =1,073,741,824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E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10^9=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1,000,000,000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E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formula to remember</a:t>
            </a:r>
            <a:endParaRPr/>
          </a:p>
        </p:txBody>
      </p:sp>
      <p:sp>
        <p:nvSpPr>
          <p:cNvPr id="284" name="Google Shape;284;p12"/>
          <p:cNvSpPr txBox="1"/>
          <p:nvPr>
            <p:ph idx="1" type="body"/>
          </p:nvPr>
        </p:nvSpPr>
        <p:spPr>
          <a:xfrm>
            <a:off x="1143000" y="12954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Capacity = no. of word x bit/word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No. of word= 2 ^ (address lines)</a:t>
            </a:r>
            <a:endParaRPr/>
          </a:p>
        </p:txBody>
      </p:sp>
      <p:sp>
        <p:nvSpPr>
          <p:cNvPr id="285" name="Google Shape;285;p12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1173162" y="2438400"/>
            <a:ext cx="7513637" cy="3962400"/>
          </a:xfrm>
          <a:prstGeom prst="irregularSeal2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Capacity= 2^(address line) x bit/word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your self</a:t>
            </a:r>
            <a:endParaRPr/>
          </a:p>
        </p:txBody>
      </p:sp>
      <p:pic>
        <p:nvPicPr>
          <p:cNvPr id="292" name="Google Shape;292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905000"/>
            <a:ext cx="6488112" cy="2909887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3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14"/>
          <p:cNvSpPr txBox="1"/>
          <p:nvPr>
            <p:ph idx="1" type="body"/>
          </p:nvPr>
        </p:nvSpPr>
        <p:spPr>
          <a:xfrm>
            <a:off x="1143000" y="12954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c </a:t>
            </a:r>
            <a:endParaRPr/>
          </a:p>
          <a:p>
            <a:pPr indent="-23622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2^16 x 16 bits/words	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  1048576 bits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  1048576/8 bytes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  131072 bytes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  131072/1024 KB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  128 KB</a:t>
            </a:r>
            <a:endParaRPr/>
          </a:p>
        </p:txBody>
      </p:sp>
      <p:sp>
        <p:nvSpPr>
          <p:cNvPr id="300" name="Google Shape;300;p14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yourself</a:t>
            </a:r>
            <a:endParaRPr/>
          </a:p>
        </p:txBody>
      </p:sp>
      <p:pic>
        <p:nvPicPr>
          <p:cNvPr id="306" name="Google Shape;306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2438400"/>
            <a:ext cx="7054850" cy="1824037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5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6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/>
          </a:p>
        </p:txBody>
      </p:sp>
      <p:sp>
        <p:nvSpPr>
          <p:cNvPr id="313" name="Google Shape;313;p16"/>
          <p:cNvSpPr txBox="1"/>
          <p:nvPr>
            <p:ph idx="1" type="body"/>
          </p:nvPr>
        </p:nvSpPr>
        <p:spPr>
          <a:xfrm>
            <a:off x="1143000" y="12954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Answer: 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Formula: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Capacity  = no. of word x bit/word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64MB  = no. of word x 32bits/word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no. of word =   64MB / 32  bits/word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   (64x1024x1024x8)(/32[ 1 byte = 2^3 bits]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   16777216 bits = 2^24 bits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Arial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98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no. of address lines = 24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14" name="Google Shape;314;p16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cell</a:t>
            </a:r>
            <a:endParaRPr/>
          </a:p>
        </p:txBody>
      </p:sp>
      <p:sp>
        <p:nvSpPr>
          <p:cNvPr id="320" name="Google Shape;320;p17"/>
          <p:cNvSpPr txBox="1"/>
          <p:nvPr>
            <p:ph idx="1" type="body"/>
          </p:nvPr>
        </p:nvSpPr>
        <p:spPr>
          <a:xfrm>
            <a:off x="1143000" y="12954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be small so that many binary cell (BC) can fit in a small area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input enable cell for reading/writing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Read/write determines operation to be preformed on cell.  A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in read/write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input forms a path to the output terminal. A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in read/write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input, information in the input terminal is transferred into the FF</a:t>
            </a:r>
            <a:endParaRPr/>
          </a:p>
        </p:txBody>
      </p:sp>
      <p:sp>
        <p:nvSpPr>
          <p:cNvPr id="321" name="Google Shape;321;p17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Access Memory (RAM)</a:t>
            </a:r>
            <a:endParaRPr/>
          </a:p>
        </p:txBody>
      </p:sp>
      <p:sp>
        <p:nvSpPr>
          <p:cNvPr id="328" name="Google Shape;328;p18"/>
          <p:cNvSpPr txBox="1"/>
          <p:nvPr>
            <p:ph idx="1" type="body"/>
          </p:nvPr>
        </p:nvSpPr>
        <p:spPr>
          <a:xfrm>
            <a:off x="1143000" y="1295400"/>
            <a:ext cx="7696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single memory cell of the static RAM has the following logic and block diagrams.</a:t>
            </a:r>
            <a:endParaRPr/>
          </a:p>
        </p:txBody>
      </p:sp>
      <p:grpSp>
        <p:nvGrpSpPr>
          <p:cNvPr id="329" name="Google Shape;329;p18"/>
          <p:cNvGrpSpPr/>
          <p:nvPr/>
        </p:nvGrpSpPr>
        <p:grpSpPr>
          <a:xfrm>
            <a:off x="1066800" y="2438400"/>
            <a:ext cx="5029200" cy="2622550"/>
            <a:chOff x="672" y="1536"/>
            <a:chExt cx="3168" cy="1652"/>
          </a:xfrm>
        </p:grpSpPr>
        <p:cxnSp>
          <p:nvCxnSpPr>
            <p:cNvPr id="330" name="Google Shape;330;p18"/>
            <p:cNvCxnSpPr/>
            <p:nvPr/>
          </p:nvCxnSpPr>
          <p:spPr>
            <a:xfrm rot="5400000">
              <a:off x="1464" y="2184"/>
              <a:ext cx="52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31" name="Google Shape;331;p18"/>
            <p:cNvSpPr txBox="1"/>
            <p:nvPr/>
          </p:nvSpPr>
          <p:spPr>
            <a:xfrm>
              <a:off x="2256" y="2016"/>
              <a:ext cx="384" cy="62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8"/>
            <p:cNvSpPr txBox="1"/>
            <p:nvPr/>
          </p:nvSpPr>
          <p:spPr>
            <a:xfrm>
              <a:off x="2256" y="2064"/>
              <a:ext cx="197" cy="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1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28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1" i="1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8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1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/>
            </a:p>
          </p:txBody>
        </p:sp>
        <p:sp>
          <p:nvSpPr>
            <p:cNvPr id="333" name="Google Shape;333;p18"/>
            <p:cNvSpPr txBox="1"/>
            <p:nvPr/>
          </p:nvSpPr>
          <p:spPr>
            <a:xfrm>
              <a:off x="2448" y="2400"/>
              <a:ext cx="190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1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/>
            </a:p>
          </p:txBody>
        </p:sp>
        <p:cxnSp>
          <p:nvCxnSpPr>
            <p:cNvPr id="334" name="Google Shape;334;p18"/>
            <p:cNvCxnSpPr/>
            <p:nvPr/>
          </p:nvCxnSpPr>
          <p:spPr>
            <a:xfrm>
              <a:off x="1728" y="2112"/>
              <a:ext cx="9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35" name="Google Shape;335;p18"/>
            <p:cNvSpPr/>
            <p:nvPr/>
          </p:nvSpPr>
          <p:spPr>
            <a:xfrm>
              <a:off x="1702" y="2087"/>
              <a:ext cx="48" cy="4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8"/>
            <p:cNvSpPr/>
            <p:nvPr/>
          </p:nvSpPr>
          <p:spPr>
            <a:xfrm>
              <a:off x="1605" y="2513"/>
              <a:ext cx="48" cy="4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8"/>
            <p:cNvSpPr/>
            <p:nvPr/>
          </p:nvSpPr>
          <p:spPr>
            <a:xfrm>
              <a:off x="1824" y="2064"/>
              <a:ext cx="240" cy="192"/>
            </a:xfrm>
            <a:prstGeom prst="flowChartDelay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8" name="Google Shape;338;p18"/>
            <p:cNvCxnSpPr/>
            <p:nvPr/>
          </p:nvCxnSpPr>
          <p:spPr>
            <a:xfrm>
              <a:off x="1536" y="216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39" name="Google Shape;339;p18"/>
            <p:cNvCxnSpPr/>
            <p:nvPr/>
          </p:nvCxnSpPr>
          <p:spPr>
            <a:xfrm>
              <a:off x="1632" y="2208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40" name="Google Shape;340;p18"/>
            <p:cNvCxnSpPr/>
            <p:nvPr/>
          </p:nvCxnSpPr>
          <p:spPr>
            <a:xfrm>
              <a:off x="2064" y="2160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41" name="Google Shape;341;p18"/>
            <p:cNvCxnSpPr/>
            <p:nvPr/>
          </p:nvCxnSpPr>
          <p:spPr>
            <a:xfrm>
              <a:off x="1728" y="2448"/>
              <a:ext cx="9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42" name="Google Shape;342;p18"/>
            <p:cNvSpPr/>
            <p:nvPr/>
          </p:nvSpPr>
          <p:spPr>
            <a:xfrm>
              <a:off x="1824" y="2400"/>
              <a:ext cx="240" cy="192"/>
            </a:xfrm>
            <a:prstGeom prst="flowChartDelay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3" name="Google Shape;343;p18"/>
            <p:cNvCxnSpPr/>
            <p:nvPr/>
          </p:nvCxnSpPr>
          <p:spPr>
            <a:xfrm>
              <a:off x="1104" y="2496"/>
              <a:ext cx="72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44" name="Google Shape;344;p18"/>
            <p:cNvCxnSpPr/>
            <p:nvPr/>
          </p:nvCxnSpPr>
          <p:spPr>
            <a:xfrm>
              <a:off x="1632" y="2544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45" name="Google Shape;345;p18"/>
            <p:cNvCxnSpPr/>
            <p:nvPr/>
          </p:nvCxnSpPr>
          <p:spPr>
            <a:xfrm>
              <a:off x="2064" y="2496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46" name="Google Shape;346;p18"/>
            <p:cNvSpPr/>
            <p:nvPr/>
          </p:nvSpPr>
          <p:spPr>
            <a:xfrm>
              <a:off x="2880" y="2400"/>
              <a:ext cx="240" cy="192"/>
            </a:xfrm>
            <a:prstGeom prst="flowChartDelay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7" name="Google Shape;347;p18"/>
            <p:cNvCxnSpPr/>
            <p:nvPr/>
          </p:nvCxnSpPr>
          <p:spPr>
            <a:xfrm>
              <a:off x="2640" y="2496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48" name="Google Shape;348;p18"/>
            <p:cNvCxnSpPr/>
            <p:nvPr/>
          </p:nvCxnSpPr>
          <p:spPr>
            <a:xfrm>
              <a:off x="2736" y="2448"/>
              <a:ext cx="144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49" name="Google Shape;349;p18"/>
            <p:cNvCxnSpPr/>
            <p:nvPr/>
          </p:nvCxnSpPr>
          <p:spPr>
            <a:xfrm>
              <a:off x="2736" y="2544"/>
              <a:ext cx="144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50" name="Google Shape;350;p18"/>
            <p:cNvCxnSpPr/>
            <p:nvPr/>
          </p:nvCxnSpPr>
          <p:spPr>
            <a:xfrm rot="5400000">
              <a:off x="2472" y="2184"/>
              <a:ext cx="52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51" name="Google Shape;351;p18"/>
            <p:cNvCxnSpPr/>
            <p:nvPr/>
          </p:nvCxnSpPr>
          <p:spPr>
            <a:xfrm>
              <a:off x="1728" y="1920"/>
              <a:ext cx="100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52" name="Google Shape;352;p18"/>
            <p:cNvCxnSpPr/>
            <p:nvPr/>
          </p:nvCxnSpPr>
          <p:spPr>
            <a:xfrm rot="5400000">
              <a:off x="2112" y="1824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53" name="Google Shape;353;p18"/>
            <p:cNvSpPr/>
            <p:nvPr/>
          </p:nvSpPr>
          <p:spPr>
            <a:xfrm>
              <a:off x="2184" y="1901"/>
              <a:ext cx="48" cy="4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4" name="Google Shape;354;p18"/>
            <p:cNvCxnSpPr/>
            <p:nvPr/>
          </p:nvCxnSpPr>
          <p:spPr>
            <a:xfrm rot="5400000">
              <a:off x="1344" y="2496"/>
              <a:ext cx="57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55" name="Google Shape;355;p18"/>
            <p:cNvCxnSpPr/>
            <p:nvPr/>
          </p:nvCxnSpPr>
          <p:spPr>
            <a:xfrm>
              <a:off x="1632" y="2784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356" name="Google Shape;356;p18"/>
            <p:cNvGrpSpPr/>
            <p:nvPr/>
          </p:nvGrpSpPr>
          <p:grpSpPr>
            <a:xfrm>
              <a:off x="1344" y="2064"/>
              <a:ext cx="185" cy="144"/>
              <a:chOff x="3648" y="2544"/>
              <a:chExt cx="233" cy="185"/>
            </a:xfrm>
          </p:grpSpPr>
          <p:sp>
            <p:nvSpPr>
              <p:cNvPr id="357" name="Google Shape;357;p18"/>
              <p:cNvSpPr/>
              <p:nvPr/>
            </p:nvSpPr>
            <p:spPr>
              <a:xfrm rot="5400000">
                <a:off x="3625" y="2567"/>
                <a:ext cx="185" cy="139"/>
              </a:xfrm>
              <a:prstGeom prst="flowChartExtra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18"/>
              <p:cNvSpPr/>
              <p:nvPr/>
            </p:nvSpPr>
            <p:spPr>
              <a:xfrm>
                <a:off x="3809" y="2600"/>
                <a:ext cx="72" cy="74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9" name="Google Shape;359;p18"/>
            <p:cNvGrpSpPr/>
            <p:nvPr/>
          </p:nvGrpSpPr>
          <p:grpSpPr>
            <a:xfrm flipH="1">
              <a:off x="1872" y="2736"/>
              <a:ext cx="185" cy="144"/>
              <a:chOff x="3648" y="2544"/>
              <a:chExt cx="233" cy="185"/>
            </a:xfrm>
          </p:grpSpPr>
          <p:sp>
            <p:nvSpPr>
              <p:cNvPr id="360" name="Google Shape;360;p18"/>
              <p:cNvSpPr/>
              <p:nvPr/>
            </p:nvSpPr>
            <p:spPr>
              <a:xfrm rot="5400000">
                <a:off x="3625" y="2567"/>
                <a:ext cx="185" cy="139"/>
              </a:xfrm>
              <a:prstGeom prst="flowChartExtra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18"/>
              <p:cNvSpPr/>
              <p:nvPr/>
            </p:nvSpPr>
            <p:spPr>
              <a:xfrm>
                <a:off x="3809" y="2600"/>
                <a:ext cx="72" cy="74"/>
              </a:xfrm>
              <a:prstGeom prst="ellipse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62" name="Google Shape;362;p18"/>
            <p:cNvCxnSpPr/>
            <p:nvPr/>
          </p:nvCxnSpPr>
          <p:spPr>
            <a:xfrm>
              <a:off x="2064" y="2784"/>
              <a:ext cx="67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63" name="Google Shape;363;p18"/>
            <p:cNvCxnSpPr/>
            <p:nvPr/>
          </p:nvCxnSpPr>
          <p:spPr>
            <a:xfrm rot="5400000">
              <a:off x="2616" y="2664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64" name="Google Shape;364;p18"/>
            <p:cNvCxnSpPr/>
            <p:nvPr/>
          </p:nvCxnSpPr>
          <p:spPr>
            <a:xfrm rot="5400000">
              <a:off x="2304" y="2880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65" name="Google Shape;365;p18"/>
            <p:cNvSpPr/>
            <p:nvPr/>
          </p:nvSpPr>
          <p:spPr>
            <a:xfrm>
              <a:off x="2379" y="2760"/>
              <a:ext cx="48" cy="4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6" name="Google Shape;366;p18"/>
            <p:cNvCxnSpPr/>
            <p:nvPr/>
          </p:nvCxnSpPr>
          <p:spPr>
            <a:xfrm>
              <a:off x="1248" y="2160"/>
              <a:ext cx="9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67" name="Google Shape;367;p18"/>
            <p:cNvCxnSpPr/>
            <p:nvPr/>
          </p:nvCxnSpPr>
          <p:spPr>
            <a:xfrm rot="5400000">
              <a:off x="1080" y="2328"/>
              <a:ext cx="336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68" name="Google Shape;368;p18"/>
            <p:cNvSpPr/>
            <p:nvPr/>
          </p:nvSpPr>
          <p:spPr>
            <a:xfrm>
              <a:off x="1229" y="2479"/>
              <a:ext cx="48" cy="4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9" name="Google Shape;369;p18"/>
            <p:cNvCxnSpPr/>
            <p:nvPr/>
          </p:nvCxnSpPr>
          <p:spPr>
            <a:xfrm>
              <a:off x="3120" y="2496"/>
              <a:ext cx="144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70" name="Google Shape;370;p18"/>
            <p:cNvSpPr txBox="1"/>
            <p:nvPr/>
          </p:nvSpPr>
          <p:spPr>
            <a:xfrm>
              <a:off x="672" y="2352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Input</a:t>
              </a:r>
              <a:endParaRPr/>
            </a:p>
          </p:txBody>
        </p:sp>
        <p:sp>
          <p:nvSpPr>
            <p:cNvPr id="371" name="Google Shape;371;p18"/>
            <p:cNvSpPr txBox="1"/>
            <p:nvPr/>
          </p:nvSpPr>
          <p:spPr>
            <a:xfrm>
              <a:off x="1968" y="1536"/>
              <a:ext cx="52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Select</a:t>
              </a:r>
              <a:endParaRPr/>
            </a:p>
          </p:txBody>
        </p:sp>
        <p:sp>
          <p:nvSpPr>
            <p:cNvPr id="372" name="Google Shape;372;p18"/>
            <p:cNvSpPr txBox="1"/>
            <p:nvPr/>
          </p:nvSpPr>
          <p:spPr>
            <a:xfrm>
              <a:off x="3264" y="2400"/>
              <a:ext cx="57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Output</a:t>
              </a:r>
              <a:endParaRPr/>
            </a:p>
          </p:txBody>
        </p:sp>
        <p:grpSp>
          <p:nvGrpSpPr>
            <p:cNvPr id="373" name="Google Shape;373;p18"/>
            <p:cNvGrpSpPr/>
            <p:nvPr/>
          </p:nvGrpSpPr>
          <p:grpSpPr>
            <a:xfrm>
              <a:off x="2064" y="2976"/>
              <a:ext cx="816" cy="212"/>
              <a:chOff x="3936" y="3648"/>
              <a:chExt cx="816" cy="212"/>
            </a:xfrm>
          </p:grpSpPr>
          <p:cxnSp>
            <p:nvCxnSpPr>
              <p:cNvPr id="374" name="Google Shape;374;p18"/>
              <p:cNvCxnSpPr/>
              <p:nvPr/>
            </p:nvCxnSpPr>
            <p:spPr>
              <a:xfrm>
                <a:off x="4368" y="3677"/>
                <a:ext cx="288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375" name="Google Shape;375;p18"/>
              <p:cNvSpPr txBox="1"/>
              <p:nvPr/>
            </p:nvSpPr>
            <p:spPr>
              <a:xfrm>
                <a:off x="3936" y="3648"/>
                <a:ext cx="81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1" i="0" lang="en-US" sz="16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Read/Write</a:t>
                </a:r>
                <a:endParaRPr/>
              </a:p>
            </p:txBody>
          </p:sp>
        </p:grpSp>
      </p:grpSp>
      <p:grpSp>
        <p:nvGrpSpPr>
          <p:cNvPr id="376" name="Google Shape;376;p18"/>
          <p:cNvGrpSpPr/>
          <p:nvPr/>
        </p:nvGrpSpPr>
        <p:grpSpPr>
          <a:xfrm>
            <a:off x="6172200" y="3048000"/>
            <a:ext cx="2819400" cy="1860550"/>
            <a:chOff x="3984" y="2352"/>
            <a:chExt cx="1776" cy="1172"/>
          </a:xfrm>
        </p:grpSpPr>
        <p:sp>
          <p:nvSpPr>
            <p:cNvPr id="377" name="Google Shape;377;p18"/>
            <p:cNvSpPr txBox="1"/>
            <p:nvPr/>
          </p:nvSpPr>
          <p:spPr>
            <a:xfrm>
              <a:off x="4656" y="2784"/>
              <a:ext cx="336" cy="288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8"/>
            <p:cNvSpPr txBox="1"/>
            <p:nvPr/>
          </p:nvSpPr>
          <p:spPr>
            <a:xfrm>
              <a:off x="4656" y="2832"/>
              <a:ext cx="33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/>
            </a:p>
          </p:txBody>
        </p:sp>
        <p:cxnSp>
          <p:nvCxnSpPr>
            <p:cNvPr id="379" name="Google Shape;379;p18"/>
            <p:cNvCxnSpPr/>
            <p:nvPr/>
          </p:nvCxnSpPr>
          <p:spPr>
            <a:xfrm>
              <a:off x="4800" y="2544"/>
              <a:ext cx="0" cy="24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80" name="Google Shape;380;p18"/>
            <p:cNvCxnSpPr/>
            <p:nvPr/>
          </p:nvCxnSpPr>
          <p:spPr>
            <a:xfrm rot="10800000">
              <a:off x="4800" y="3072"/>
              <a:ext cx="0" cy="24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81" name="Google Shape;381;p18"/>
            <p:cNvCxnSpPr/>
            <p:nvPr/>
          </p:nvCxnSpPr>
          <p:spPr>
            <a:xfrm>
              <a:off x="4416" y="2928"/>
              <a:ext cx="24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82" name="Google Shape;382;p18"/>
            <p:cNvCxnSpPr/>
            <p:nvPr/>
          </p:nvCxnSpPr>
          <p:spPr>
            <a:xfrm>
              <a:off x="4992" y="2928"/>
              <a:ext cx="24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383" name="Google Shape;383;p18"/>
            <p:cNvSpPr txBox="1"/>
            <p:nvPr/>
          </p:nvSpPr>
          <p:spPr>
            <a:xfrm>
              <a:off x="5184" y="2832"/>
              <a:ext cx="57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Output</a:t>
              </a:r>
              <a:endParaRPr/>
            </a:p>
          </p:txBody>
        </p:sp>
        <p:sp>
          <p:nvSpPr>
            <p:cNvPr id="384" name="Google Shape;384;p18"/>
            <p:cNvSpPr txBox="1"/>
            <p:nvPr/>
          </p:nvSpPr>
          <p:spPr>
            <a:xfrm>
              <a:off x="3984" y="2832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Input</a:t>
              </a:r>
              <a:endParaRPr/>
            </a:p>
          </p:txBody>
        </p:sp>
        <p:sp>
          <p:nvSpPr>
            <p:cNvPr id="385" name="Google Shape;385;p18"/>
            <p:cNvSpPr txBox="1"/>
            <p:nvPr/>
          </p:nvSpPr>
          <p:spPr>
            <a:xfrm>
              <a:off x="4560" y="2352"/>
              <a:ext cx="52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Select</a:t>
              </a:r>
              <a:endParaRPr/>
            </a:p>
          </p:txBody>
        </p:sp>
        <p:grpSp>
          <p:nvGrpSpPr>
            <p:cNvPr id="386" name="Google Shape;386;p18"/>
            <p:cNvGrpSpPr/>
            <p:nvPr/>
          </p:nvGrpSpPr>
          <p:grpSpPr>
            <a:xfrm>
              <a:off x="4416" y="3312"/>
              <a:ext cx="816" cy="212"/>
              <a:chOff x="3936" y="3648"/>
              <a:chExt cx="816" cy="212"/>
            </a:xfrm>
          </p:grpSpPr>
          <p:cxnSp>
            <p:nvCxnSpPr>
              <p:cNvPr id="387" name="Google Shape;387;p18"/>
              <p:cNvCxnSpPr/>
              <p:nvPr/>
            </p:nvCxnSpPr>
            <p:spPr>
              <a:xfrm>
                <a:off x="4368" y="3677"/>
                <a:ext cx="288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388" name="Google Shape;388;p18"/>
              <p:cNvSpPr txBox="1"/>
              <p:nvPr/>
            </p:nvSpPr>
            <p:spPr>
              <a:xfrm>
                <a:off x="3936" y="3648"/>
                <a:ext cx="81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1" i="0" lang="en-US" sz="16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Read/Write</a:t>
                </a:r>
                <a:endParaRPr/>
              </a:p>
            </p:txBody>
          </p:sp>
        </p:grpSp>
      </p:grpSp>
      <p:cxnSp>
        <p:nvCxnSpPr>
          <p:cNvPr id="389" name="Google Shape;389;p18"/>
          <p:cNvCxnSpPr/>
          <p:nvPr/>
        </p:nvCxnSpPr>
        <p:spPr>
          <a:xfrm>
            <a:off x="6096000" y="2514600"/>
            <a:ext cx="0" cy="304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90" name="Google Shape;390;p18"/>
          <p:cNvSpPr txBox="1"/>
          <p:nvPr/>
        </p:nvSpPr>
        <p:spPr>
          <a:xfrm>
            <a:off x="2590800" y="5181600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 diagram</a:t>
            </a:r>
            <a:endParaRPr/>
          </a:p>
        </p:txBody>
      </p:sp>
      <p:sp>
        <p:nvSpPr>
          <p:cNvPr id="391" name="Google Shape;391;p18"/>
          <p:cNvSpPr txBox="1"/>
          <p:nvPr/>
        </p:nvSpPr>
        <p:spPr>
          <a:xfrm>
            <a:off x="6553200" y="5181600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diagram</a:t>
            </a:r>
            <a:endParaRPr/>
          </a:p>
        </p:txBody>
      </p:sp>
      <p:sp>
        <p:nvSpPr>
          <p:cNvPr id="392" name="Google Shape;392;p18"/>
          <p:cNvSpPr/>
          <p:nvPr/>
        </p:nvSpPr>
        <p:spPr>
          <a:xfrm rot="5400000">
            <a:off x="342900" y="48387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darken" h="120000" w="120000"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none" h="120000" w="120000"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rgbClr val="FFFFFF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8"/>
          <p:cNvSpPr/>
          <p:nvPr/>
        </p:nvSpPr>
        <p:spPr>
          <a:xfrm rot="5400000">
            <a:off x="342900" y="52959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96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</a:path>
              <a:path extrusionOk="0" fill="darken" h="120000" w="120000">
                <a:moveTo>
                  <a:pt x="96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</a:path>
              <a:path extrusionOk="0" fill="none" h="120000" w="120000">
                <a:moveTo>
                  <a:pt x="96000" y="60000"/>
                </a:moveTo>
                <a:lnTo>
                  <a:pt x="24000" y="105000"/>
                </a:lnTo>
                <a:lnTo>
                  <a:pt x="24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8"/>
          <p:cNvSpPr/>
          <p:nvPr/>
        </p:nvSpPr>
        <p:spPr>
          <a:xfrm rot="5400000">
            <a:off x="342900" y="43815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24000" y="15000"/>
                </a:lnTo>
                <a:lnTo>
                  <a:pt x="24000" y="105000"/>
                </a:lnTo>
                <a:lnTo>
                  <a:pt x="33000" y="105000"/>
                </a:lnTo>
                <a:close/>
              </a:path>
              <a:path extrusionOk="0" fill="darken" h="120000" w="120000"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24000" y="15000"/>
                </a:lnTo>
                <a:lnTo>
                  <a:pt x="24000" y="105000"/>
                </a:lnTo>
                <a:lnTo>
                  <a:pt x="33000" y="105000"/>
                </a:lnTo>
                <a:close/>
              </a:path>
              <a:path extrusionOk="0" fill="none" h="120000" w="120000"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33000" y="105000"/>
                </a:lnTo>
                <a:lnTo>
                  <a:pt x="24000" y="105000"/>
                </a:lnTo>
                <a:lnTo>
                  <a:pt x="24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8"/>
          <p:cNvSpPr/>
          <p:nvPr/>
        </p:nvSpPr>
        <p:spPr>
          <a:xfrm rot="5400000">
            <a:off x="342900" y="57531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78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darken" h="120000" w="120000">
                <a:moveTo>
                  <a:pt x="78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none" h="120000" w="120000">
                <a:moveTo>
                  <a:pt x="78000" y="60000"/>
                </a:moveTo>
                <a:lnTo>
                  <a:pt x="24000" y="105000"/>
                </a:lnTo>
                <a:lnTo>
                  <a:pt x="24000" y="1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8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9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Access Memory (RAM)</a:t>
            </a:r>
            <a:endParaRPr/>
          </a:p>
        </p:txBody>
      </p:sp>
      <p:sp>
        <p:nvSpPr>
          <p:cNvPr id="403" name="Google Shape;403;p19"/>
          <p:cNvSpPr txBox="1"/>
          <p:nvPr>
            <p:ph idx="1" type="body"/>
          </p:nvPr>
        </p:nvSpPr>
        <p:spPr>
          <a:xfrm>
            <a:off x="1143000" y="12192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 construction of a 4 x 3 RAM (with decoder and OR gates):</a:t>
            </a:r>
            <a:endParaRPr/>
          </a:p>
        </p:txBody>
      </p:sp>
      <p:pic>
        <p:nvPicPr>
          <p:cNvPr descr="l6_htm5" id="404" name="Google Shape;404;p19"/>
          <p:cNvPicPr preferRelativeResize="0"/>
          <p:nvPr/>
        </p:nvPicPr>
        <p:blipFill rotWithShape="1">
          <a:blip r:embed="rId3">
            <a:alphaModFix/>
          </a:blip>
          <a:srcRect b="7691" l="1613" r="0" t="0"/>
          <a:stretch/>
        </p:blipFill>
        <p:spPr>
          <a:xfrm>
            <a:off x="3276600" y="1676400"/>
            <a:ext cx="555625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9"/>
          <p:cNvSpPr/>
          <p:nvPr/>
        </p:nvSpPr>
        <p:spPr>
          <a:xfrm rot="5400000">
            <a:off x="342900" y="48387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darken" h="120000" w="120000"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none" h="120000" w="120000"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rgbClr val="FFFFFF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9"/>
          <p:cNvSpPr/>
          <p:nvPr/>
        </p:nvSpPr>
        <p:spPr>
          <a:xfrm rot="5400000">
            <a:off x="342900" y="52959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96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</a:path>
              <a:path extrusionOk="0" fill="darken" h="120000" w="120000">
                <a:moveTo>
                  <a:pt x="96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</a:path>
              <a:path extrusionOk="0" fill="none" h="120000" w="120000">
                <a:moveTo>
                  <a:pt x="96000" y="60000"/>
                </a:moveTo>
                <a:lnTo>
                  <a:pt x="24000" y="105000"/>
                </a:lnTo>
                <a:lnTo>
                  <a:pt x="24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9"/>
          <p:cNvSpPr/>
          <p:nvPr/>
        </p:nvSpPr>
        <p:spPr>
          <a:xfrm rot="5400000">
            <a:off x="342900" y="43815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24000" y="15000"/>
                </a:lnTo>
                <a:lnTo>
                  <a:pt x="24000" y="105000"/>
                </a:lnTo>
                <a:lnTo>
                  <a:pt x="33000" y="105000"/>
                </a:lnTo>
                <a:close/>
              </a:path>
              <a:path extrusionOk="0" fill="darken" h="120000" w="120000"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24000" y="15000"/>
                </a:lnTo>
                <a:lnTo>
                  <a:pt x="24000" y="105000"/>
                </a:lnTo>
                <a:lnTo>
                  <a:pt x="33000" y="105000"/>
                </a:lnTo>
                <a:close/>
              </a:path>
              <a:path extrusionOk="0" fill="none" h="120000" w="120000"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33000" y="105000"/>
                </a:lnTo>
                <a:lnTo>
                  <a:pt x="24000" y="105000"/>
                </a:lnTo>
                <a:lnTo>
                  <a:pt x="24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9"/>
          <p:cNvSpPr/>
          <p:nvPr/>
        </p:nvSpPr>
        <p:spPr>
          <a:xfrm rot="5400000">
            <a:off x="342900" y="57531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78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darken" h="120000" w="120000">
                <a:moveTo>
                  <a:pt x="78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none" h="120000" w="120000">
                <a:moveTo>
                  <a:pt x="78000" y="60000"/>
                </a:moveTo>
                <a:lnTo>
                  <a:pt x="24000" y="105000"/>
                </a:lnTo>
                <a:lnTo>
                  <a:pt x="24000" y="1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19"/>
          <p:cNvCxnSpPr/>
          <p:nvPr/>
        </p:nvCxnSpPr>
        <p:spPr>
          <a:xfrm>
            <a:off x="4724400" y="1143000"/>
            <a:ext cx="762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10" name="Google Shape;410;p19"/>
          <p:cNvSpPr/>
          <p:nvPr/>
        </p:nvSpPr>
        <p:spPr>
          <a:xfrm>
            <a:off x="2971800" y="762000"/>
            <a:ext cx="1828800" cy="495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 of word</a:t>
            </a:r>
            <a:endParaRPr/>
          </a:p>
        </p:txBody>
      </p:sp>
      <p:cxnSp>
        <p:nvCxnSpPr>
          <p:cNvPr id="411" name="Google Shape;411;p19"/>
          <p:cNvCxnSpPr/>
          <p:nvPr/>
        </p:nvCxnSpPr>
        <p:spPr>
          <a:xfrm flipH="1">
            <a:off x="5334000" y="1009650"/>
            <a:ext cx="304800" cy="2476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12" name="Google Shape;412;p19"/>
          <p:cNvSpPr/>
          <p:nvPr/>
        </p:nvSpPr>
        <p:spPr>
          <a:xfrm>
            <a:off x="5638800" y="819150"/>
            <a:ext cx="1371600" cy="381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Bit/word</a:t>
            </a:r>
            <a:endParaRPr/>
          </a:p>
        </p:txBody>
      </p:sp>
      <p:sp>
        <p:nvSpPr>
          <p:cNvPr id="413" name="Google Shape;413;p19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grpSp>
        <p:nvGrpSpPr>
          <p:cNvPr id="414" name="Google Shape;414;p19"/>
          <p:cNvGrpSpPr/>
          <p:nvPr/>
        </p:nvGrpSpPr>
        <p:grpSpPr>
          <a:xfrm>
            <a:off x="1066800" y="2863850"/>
            <a:ext cx="2819400" cy="1860550"/>
            <a:chOff x="3984" y="2352"/>
            <a:chExt cx="1776" cy="1172"/>
          </a:xfrm>
        </p:grpSpPr>
        <p:sp>
          <p:nvSpPr>
            <p:cNvPr id="415" name="Google Shape;415;p19"/>
            <p:cNvSpPr txBox="1"/>
            <p:nvPr/>
          </p:nvSpPr>
          <p:spPr>
            <a:xfrm>
              <a:off x="4656" y="2784"/>
              <a:ext cx="336" cy="288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9"/>
            <p:cNvSpPr txBox="1"/>
            <p:nvPr/>
          </p:nvSpPr>
          <p:spPr>
            <a:xfrm>
              <a:off x="4656" y="2832"/>
              <a:ext cx="33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/>
            </a:p>
          </p:txBody>
        </p:sp>
        <p:cxnSp>
          <p:nvCxnSpPr>
            <p:cNvPr id="417" name="Google Shape;417;p19"/>
            <p:cNvCxnSpPr/>
            <p:nvPr/>
          </p:nvCxnSpPr>
          <p:spPr>
            <a:xfrm>
              <a:off x="4800" y="2544"/>
              <a:ext cx="0" cy="24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18" name="Google Shape;418;p19"/>
            <p:cNvCxnSpPr/>
            <p:nvPr/>
          </p:nvCxnSpPr>
          <p:spPr>
            <a:xfrm rot="10800000">
              <a:off x="4800" y="3072"/>
              <a:ext cx="0" cy="24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19" name="Google Shape;419;p19"/>
            <p:cNvCxnSpPr/>
            <p:nvPr/>
          </p:nvCxnSpPr>
          <p:spPr>
            <a:xfrm>
              <a:off x="4416" y="2928"/>
              <a:ext cx="24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20" name="Google Shape;420;p19"/>
            <p:cNvCxnSpPr/>
            <p:nvPr/>
          </p:nvCxnSpPr>
          <p:spPr>
            <a:xfrm>
              <a:off x="4992" y="2928"/>
              <a:ext cx="24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421" name="Google Shape;421;p19"/>
            <p:cNvSpPr txBox="1"/>
            <p:nvPr/>
          </p:nvSpPr>
          <p:spPr>
            <a:xfrm>
              <a:off x="5184" y="2832"/>
              <a:ext cx="57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Output</a:t>
              </a:r>
              <a:endParaRPr/>
            </a:p>
          </p:txBody>
        </p:sp>
        <p:sp>
          <p:nvSpPr>
            <p:cNvPr id="422" name="Google Shape;422;p19"/>
            <p:cNvSpPr txBox="1"/>
            <p:nvPr/>
          </p:nvSpPr>
          <p:spPr>
            <a:xfrm>
              <a:off x="3984" y="2832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Input</a:t>
              </a:r>
              <a:endParaRPr/>
            </a:p>
          </p:txBody>
        </p:sp>
        <p:sp>
          <p:nvSpPr>
            <p:cNvPr id="423" name="Google Shape;423;p19"/>
            <p:cNvSpPr txBox="1"/>
            <p:nvPr/>
          </p:nvSpPr>
          <p:spPr>
            <a:xfrm>
              <a:off x="4560" y="2352"/>
              <a:ext cx="52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Select</a:t>
              </a:r>
              <a:endParaRPr/>
            </a:p>
          </p:txBody>
        </p:sp>
        <p:grpSp>
          <p:nvGrpSpPr>
            <p:cNvPr id="424" name="Google Shape;424;p19"/>
            <p:cNvGrpSpPr/>
            <p:nvPr/>
          </p:nvGrpSpPr>
          <p:grpSpPr>
            <a:xfrm>
              <a:off x="4416" y="3312"/>
              <a:ext cx="816" cy="212"/>
              <a:chOff x="3936" y="3648"/>
              <a:chExt cx="816" cy="212"/>
            </a:xfrm>
          </p:grpSpPr>
          <p:cxnSp>
            <p:nvCxnSpPr>
              <p:cNvPr id="425" name="Google Shape;425;p19"/>
              <p:cNvCxnSpPr/>
              <p:nvPr/>
            </p:nvCxnSpPr>
            <p:spPr>
              <a:xfrm>
                <a:off x="4368" y="3677"/>
                <a:ext cx="288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426" name="Google Shape;426;p19"/>
              <p:cNvSpPr txBox="1"/>
              <p:nvPr/>
            </p:nvSpPr>
            <p:spPr>
              <a:xfrm>
                <a:off x="3936" y="3648"/>
                <a:ext cx="81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1" i="0" lang="en-US" sz="16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Read/Write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2e91df9019_3_0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Access Memory (RAM)</a:t>
            </a:r>
            <a:endParaRPr/>
          </a:p>
        </p:txBody>
      </p:sp>
      <p:sp>
        <p:nvSpPr>
          <p:cNvPr id="433" name="Google Shape;433;g22e91df9019_3_0"/>
          <p:cNvSpPr txBox="1"/>
          <p:nvPr>
            <p:ph idx="1" type="body"/>
          </p:nvPr>
        </p:nvSpPr>
        <p:spPr>
          <a:xfrm>
            <a:off x="1143000" y="12192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 construction of a </a:t>
            </a:r>
            <a:r>
              <a:rPr lang="en-US"/>
              <a:t>2048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 32 RAM (with decoder and OR gates):</a:t>
            </a:r>
            <a:endParaRPr/>
          </a:p>
        </p:txBody>
      </p:sp>
      <p:sp>
        <p:nvSpPr>
          <p:cNvPr id="434" name="Google Shape;434;g22e91df9019_3_0"/>
          <p:cNvSpPr/>
          <p:nvPr/>
        </p:nvSpPr>
        <p:spPr>
          <a:xfrm rot="5400000">
            <a:off x="342900" y="48387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darken" h="120000" w="120000"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none" h="120000" w="120000"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rgbClr val="FFFFFF"/>
              </a:gs>
              <a:gs pos="100000">
                <a:srgbClr val="CC99FF"/>
              </a:gs>
            </a:gsLst>
            <a:lin ang="5400012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22e91df9019_3_0"/>
          <p:cNvSpPr/>
          <p:nvPr/>
        </p:nvSpPr>
        <p:spPr>
          <a:xfrm rot="5400000">
            <a:off x="342900" y="52959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96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</a:path>
              <a:path extrusionOk="0" fill="darken" h="120000" w="120000">
                <a:moveTo>
                  <a:pt x="96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</a:path>
              <a:path extrusionOk="0" fill="none" h="120000" w="120000">
                <a:moveTo>
                  <a:pt x="96000" y="60000"/>
                </a:moveTo>
                <a:lnTo>
                  <a:pt x="24000" y="105000"/>
                </a:lnTo>
                <a:lnTo>
                  <a:pt x="24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12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22e91df9019_3_0"/>
          <p:cNvSpPr/>
          <p:nvPr/>
        </p:nvSpPr>
        <p:spPr>
          <a:xfrm rot="5400000">
            <a:off x="342900" y="43815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24000" y="15000"/>
                </a:lnTo>
                <a:lnTo>
                  <a:pt x="24000" y="105000"/>
                </a:lnTo>
                <a:lnTo>
                  <a:pt x="33000" y="105000"/>
                </a:lnTo>
                <a:close/>
              </a:path>
              <a:path extrusionOk="0" fill="darken" h="120000" w="120000"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24000" y="15000"/>
                </a:lnTo>
                <a:lnTo>
                  <a:pt x="24000" y="105000"/>
                </a:lnTo>
                <a:lnTo>
                  <a:pt x="33000" y="105000"/>
                </a:lnTo>
                <a:close/>
              </a:path>
              <a:path extrusionOk="0" fill="none" h="120000" w="120000"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33000" y="105000"/>
                </a:lnTo>
                <a:lnTo>
                  <a:pt x="24000" y="105000"/>
                </a:lnTo>
                <a:lnTo>
                  <a:pt x="24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12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22e91df9019_3_0"/>
          <p:cNvSpPr/>
          <p:nvPr/>
        </p:nvSpPr>
        <p:spPr>
          <a:xfrm rot="5400000">
            <a:off x="342900" y="57531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78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darken" h="120000" w="120000">
                <a:moveTo>
                  <a:pt x="78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none" h="120000" w="120000">
                <a:moveTo>
                  <a:pt x="78000" y="60000"/>
                </a:moveTo>
                <a:lnTo>
                  <a:pt x="24000" y="105000"/>
                </a:lnTo>
                <a:lnTo>
                  <a:pt x="24000" y="1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12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8" name="Google Shape;438;g22e91df9019_3_0"/>
          <p:cNvCxnSpPr/>
          <p:nvPr/>
        </p:nvCxnSpPr>
        <p:spPr>
          <a:xfrm>
            <a:off x="4724400" y="1143000"/>
            <a:ext cx="762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39" name="Google Shape;439;g22e91df9019_3_0"/>
          <p:cNvSpPr/>
          <p:nvPr/>
        </p:nvSpPr>
        <p:spPr>
          <a:xfrm>
            <a:off x="2971800" y="762000"/>
            <a:ext cx="1828800" cy="495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 of word</a:t>
            </a:r>
            <a:endParaRPr/>
          </a:p>
        </p:txBody>
      </p:sp>
      <p:cxnSp>
        <p:nvCxnSpPr>
          <p:cNvPr id="440" name="Google Shape;440;g22e91df9019_3_0"/>
          <p:cNvCxnSpPr/>
          <p:nvPr/>
        </p:nvCxnSpPr>
        <p:spPr>
          <a:xfrm flipH="1">
            <a:off x="5334000" y="1009650"/>
            <a:ext cx="304800" cy="24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41" name="Google Shape;441;g22e91df9019_3_0"/>
          <p:cNvSpPr/>
          <p:nvPr/>
        </p:nvSpPr>
        <p:spPr>
          <a:xfrm>
            <a:off x="5638800" y="819150"/>
            <a:ext cx="1371600" cy="381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Bit/word</a:t>
            </a:r>
            <a:endParaRPr/>
          </a:p>
        </p:txBody>
      </p:sp>
      <p:sp>
        <p:nvSpPr>
          <p:cNvPr id="442" name="Google Shape;442;g22e91df9019_3_0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443" name="Google Shape;443;g22e91df9019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3413" y="2209800"/>
            <a:ext cx="6668775" cy="439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0"/>
          <p:cNvSpPr txBox="1"/>
          <p:nvPr>
            <p:ph type="title"/>
          </p:nvPr>
        </p:nvSpPr>
        <p:spPr>
          <a:xfrm>
            <a:off x="11430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Access Memory (RAM)</a:t>
            </a:r>
            <a:endParaRPr/>
          </a:p>
        </p:txBody>
      </p:sp>
      <p:sp>
        <p:nvSpPr>
          <p:cNvPr id="450" name="Google Shape;450;p20"/>
          <p:cNvSpPr txBox="1"/>
          <p:nvPr>
            <p:ph idx="1" type="body"/>
          </p:nvPr>
        </p:nvSpPr>
        <p:spPr>
          <a:xfrm>
            <a:off x="1143000" y="12954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array of RAM chips: memory chips are combined to form larger memory.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1K x 8-bit RAM chip:</a:t>
            </a:r>
            <a:endParaRPr/>
          </a:p>
        </p:txBody>
      </p:sp>
      <p:sp>
        <p:nvSpPr>
          <p:cNvPr id="451" name="Google Shape;451;p20"/>
          <p:cNvSpPr txBox="1"/>
          <p:nvPr/>
        </p:nvSpPr>
        <p:spPr>
          <a:xfrm>
            <a:off x="2895600" y="5105400"/>
            <a:ext cx="4648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diagram of a 1K x 8 RAM chip</a:t>
            </a:r>
            <a:endParaRPr/>
          </a:p>
        </p:txBody>
      </p:sp>
      <p:grpSp>
        <p:nvGrpSpPr>
          <p:cNvPr id="452" name="Google Shape;452;p20"/>
          <p:cNvGrpSpPr/>
          <p:nvPr/>
        </p:nvGrpSpPr>
        <p:grpSpPr>
          <a:xfrm>
            <a:off x="2362200" y="3048000"/>
            <a:ext cx="5410200" cy="1752600"/>
            <a:chOff x="1488" y="1920"/>
            <a:chExt cx="3408" cy="1104"/>
          </a:xfrm>
        </p:grpSpPr>
        <p:sp>
          <p:nvSpPr>
            <p:cNvPr id="453" name="Google Shape;453;p20"/>
            <p:cNvSpPr txBox="1"/>
            <p:nvPr/>
          </p:nvSpPr>
          <p:spPr>
            <a:xfrm>
              <a:off x="2640" y="1920"/>
              <a:ext cx="1008" cy="110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0"/>
            <p:cNvSpPr txBox="1"/>
            <p:nvPr/>
          </p:nvSpPr>
          <p:spPr>
            <a:xfrm>
              <a:off x="2688" y="1968"/>
              <a:ext cx="91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RAM 1K x 8</a:t>
              </a:r>
              <a:endParaRPr/>
            </a:p>
          </p:txBody>
        </p:sp>
        <p:sp>
          <p:nvSpPr>
            <p:cNvPr id="455" name="Google Shape;455;p20"/>
            <p:cNvSpPr txBox="1"/>
            <p:nvPr/>
          </p:nvSpPr>
          <p:spPr>
            <a:xfrm>
              <a:off x="2640" y="2256"/>
              <a:ext cx="768" cy="6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(8)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ADRS (10)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RW</a:t>
              </a:r>
              <a:endParaRPr/>
            </a:p>
          </p:txBody>
        </p:sp>
        <p:cxnSp>
          <p:nvCxnSpPr>
            <p:cNvPr id="456" name="Google Shape;456;p20"/>
            <p:cNvCxnSpPr/>
            <p:nvPr/>
          </p:nvCxnSpPr>
          <p:spPr>
            <a:xfrm>
              <a:off x="2304" y="2400"/>
              <a:ext cx="33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57" name="Google Shape;457;p20"/>
            <p:cNvCxnSpPr/>
            <p:nvPr/>
          </p:nvCxnSpPr>
          <p:spPr>
            <a:xfrm>
              <a:off x="2304" y="2544"/>
              <a:ext cx="33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58" name="Google Shape;458;p20"/>
            <p:cNvCxnSpPr/>
            <p:nvPr/>
          </p:nvCxnSpPr>
          <p:spPr>
            <a:xfrm>
              <a:off x="2304" y="2688"/>
              <a:ext cx="33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59" name="Google Shape;459;p20"/>
            <p:cNvCxnSpPr/>
            <p:nvPr/>
          </p:nvCxnSpPr>
          <p:spPr>
            <a:xfrm>
              <a:off x="2304" y="2832"/>
              <a:ext cx="33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460" name="Google Shape;460;p20"/>
            <p:cNvSpPr txBox="1"/>
            <p:nvPr/>
          </p:nvSpPr>
          <p:spPr>
            <a:xfrm>
              <a:off x="1488" y="2256"/>
              <a:ext cx="816" cy="6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Input data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Address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Chip select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Read/write</a:t>
              </a:r>
              <a:endParaRPr/>
            </a:p>
          </p:txBody>
        </p:sp>
        <p:cxnSp>
          <p:nvCxnSpPr>
            <p:cNvPr id="461" name="Google Shape;461;p20"/>
            <p:cNvCxnSpPr/>
            <p:nvPr/>
          </p:nvCxnSpPr>
          <p:spPr>
            <a:xfrm>
              <a:off x="3648" y="2400"/>
              <a:ext cx="33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462" name="Google Shape;462;p20"/>
            <p:cNvSpPr txBox="1"/>
            <p:nvPr/>
          </p:nvSpPr>
          <p:spPr>
            <a:xfrm>
              <a:off x="3408" y="2304"/>
              <a:ext cx="28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(8)</a:t>
              </a:r>
              <a:endParaRPr/>
            </a:p>
          </p:txBody>
        </p:sp>
        <p:sp>
          <p:nvSpPr>
            <p:cNvPr id="463" name="Google Shape;463;p20"/>
            <p:cNvSpPr txBox="1"/>
            <p:nvPr/>
          </p:nvSpPr>
          <p:spPr>
            <a:xfrm>
              <a:off x="3984" y="2304"/>
              <a:ext cx="91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Output data</a:t>
              </a:r>
              <a:endParaRPr/>
            </a:p>
          </p:txBody>
        </p:sp>
        <p:cxnSp>
          <p:nvCxnSpPr>
            <p:cNvPr id="464" name="Google Shape;464;p20"/>
            <p:cNvCxnSpPr/>
            <p:nvPr/>
          </p:nvCxnSpPr>
          <p:spPr>
            <a:xfrm flipH="1">
              <a:off x="2448" y="2352"/>
              <a:ext cx="96" cy="96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65" name="Google Shape;465;p20"/>
            <p:cNvCxnSpPr/>
            <p:nvPr/>
          </p:nvCxnSpPr>
          <p:spPr>
            <a:xfrm flipH="1">
              <a:off x="2448" y="2496"/>
              <a:ext cx="96" cy="96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66" name="Google Shape;466;p20"/>
            <p:cNvCxnSpPr/>
            <p:nvPr/>
          </p:nvCxnSpPr>
          <p:spPr>
            <a:xfrm flipH="1">
              <a:off x="3792" y="2352"/>
              <a:ext cx="96" cy="96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467" name="Google Shape;467;p20"/>
            <p:cNvSpPr txBox="1"/>
            <p:nvPr/>
          </p:nvSpPr>
          <p:spPr>
            <a:xfrm>
              <a:off x="2352" y="2256"/>
              <a:ext cx="202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468" name="Google Shape;468;p20"/>
            <p:cNvSpPr txBox="1"/>
            <p:nvPr/>
          </p:nvSpPr>
          <p:spPr>
            <a:xfrm>
              <a:off x="3696" y="2256"/>
              <a:ext cx="192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469" name="Google Shape;469;p20"/>
            <p:cNvSpPr txBox="1"/>
            <p:nvPr/>
          </p:nvSpPr>
          <p:spPr>
            <a:xfrm>
              <a:off x="2304" y="2400"/>
              <a:ext cx="250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</p:grpSp>
      <p:sp>
        <p:nvSpPr>
          <p:cNvPr id="470" name="Google Shape;470;p20"/>
          <p:cNvSpPr/>
          <p:nvPr/>
        </p:nvSpPr>
        <p:spPr>
          <a:xfrm rot="5400000">
            <a:off x="342900" y="48387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darken" h="120000" w="120000"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none" h="120000" w="120000">
                <a:moveTo>
                  <a:pt x="24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rgbClr val="FFFFFF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0"/>
          <p:cNvSpPr/>
          <p:nvPr/>
        </p:nvSpPr>
        <p:spPr>
          <a:xfrm rot="5400000">
            <a:off x="342900" y="52959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96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</a:path>
              <a:path extrusionOk="0" fill="darken" h="120000" w="120000">
                <a:moveTo>
                  <a:pt x="96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</a:path>
              <a:path extrusionOk="0" fill="none" h="120000" w="120000">
                <a:moveTo>
                  <a:pt x="96000" y="60000"/>
                </a:moveTo>
                <a:lnTo>
                  <a:pt x="24000" y="105000"/>
                </a:lnTo>
                <a:lnTo>
                  <a:pt x="24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0"/>
          <p:cNvSpPr/>
          <p:nvPr/>
        </p:nvSpPr>
        <p:spPr>
          <a:xfrm rot="5400000">
            <a:off x="342900" y="43815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24000" y="15000"/>
                </a:lnTo>
                <a:lnTo>
                  <a:pt x="24000" y="105000"/>
                </a:lnTo>
                <a:lnTo>
                  <a:pt x="33000" y="105000"/>
                </a:lnTo>
                <a:close/>
              </a:path>
              <a:path extrusionOk="0" fill="darken" h="120000" w="120000"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24000" y="15000"/>
                </a:lnTo>
                <a:lnTo>
                  <a:pt x="24000" y="105000"/>
                </a:lnTo>
                <a:lnTo>
                  <a:pt x="33000" y="105000"/>
                </a:lnTo>
                <a:close/>
              </a:path>
              <a:path extrusionOk="0" fill="none" h="120000" w="120000">
                <a:moveTo>
                  <a:pt x="42000" y="60000"/>
                </a:moveTo>
                <a:lnTo>
                  <a:pt x="96000" y="15000"/>
                </a:lnTo>
                <a:lnTo>
                  <a:pt x="96000" y="105000"/>
                </a:lnTo>
                <a:close/>
                <a:moveTo>
                  <a:pt x="33000" y="15000"/>
                </a:moveTo>
                <a:lnTo>
                  <a:pt x="33000" y="105000"/>
                </a:lnTo>
                <a:lnTo>
                  <a:pt x="24000" y="105000"/>
                </a:lnTo>
                <a:lnTo>
                  <a:pt x="24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0"/>
          <p:cNvSpPr/>
          <p:nvPr/>
        </p:nvSpPr>
        <p:spPr>
          <a:xfrm rot="5400000">
            <a:off x="342900" y="5753100"/>
            <a:ext cx="381000" cy="30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78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darken" h="120000" w="120000">
                <a:moveTo>
                  <a:pt x="78000" y="60000"/>
                </a:moveTo>
                <a:lnTo>
                  <a:pt x="24000" y="15000"/>
                </a:lnTo>
                <a:lnTo>
                  <a:pt x="24000" y="10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none" h="120000" w="120000">
                <a:moveTo>
                  <a:pt x="78000" y="60000"/>
                </a:moveTo>
                <a:lnTo>
                  <a:pt x="24000" y="105000"/>
                </a:lnTo>
                <a:lnTo>
                  <a:pt x="24000" y="15000"/>
                </a:lnTo>
                <a:close/>
                <a:moveTo>
                  <a:pt x="87000" y="15000"/>
                </a:moveTo>
                <a:lnTo>
                  <a:pt x="96000" y="15000"/>
                </a:lnTo>
                <a:lnTo>
                  <a:pt x="96000" y="105000"/>
                </a:lnTo>
                <a:lnTo>
                  <a:pt x="87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CC99FF"/>
              </a:gs>
              <a:gs pos="50000">
                <a:schemeClr val="lt1"/>
              </a:gs>
              <a:gs pos="100000">
                <a:srgbClr val="CC99FF"/>
              </a:gs>
            </a:gsLst>
            <a:lin ang="5400000" scaled="0"/>
          </a:gradFill>
          <a:ln cap="sq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0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ds Tie">
  <a:themeElements>
    <a:clrScheme name="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6600CC"/>
      </a:hlink>
      <a:folHlink>
        <a:srgbClr val="9933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Dads Tie">
  <a:themeElements>
    <a:clrScheme name="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6600CC"/>
      </a:hlink>
      <a:folHlink>
        <a:srgbClr val="9933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1998-10-14T11:43:56Z</dcterms:created>
  <dc:creator>Taniya Siddiqua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str>tantc@comp.nus.edu.sg</vt:lpstr>
  </property>
  <property fmtid="{D5CDD505-2E9C-101B-9397-08002B2CF9AE}" pid="8" name="HomePage">
    <vt:lpstr>http://www.comp.nus.edu.sg/~cs1103</vt:lpstr>
  </property>
  <property fmtid="{D5CDD505-2E9C-101B-9397-08002B2CF9AE}" pid="9" name="Other">
    <vt:lp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str>C:\My Documents</vt:lpstr>
  </property>
</Properties>
</file>