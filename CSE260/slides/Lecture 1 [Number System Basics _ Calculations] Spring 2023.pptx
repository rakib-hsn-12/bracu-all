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9144000"/>
  <p:notesSz cx="6858000" cy="9144000"/>
  <p:embeddedFontLst>
    <p:embeddedFont>
      <p:font typeface="Tahoma"/>
      <p:regular r:id="rId42"/>
      <p:bold r:id="rId43"/>
    </p:embeddedFont>
    <p:embeddedFont>
      <p:font typeface="Libre Baskerville"/>
      <p:regular r:id="rId44"/>
      <p:bold r:id="rId45"/>
      <p: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CE57C2-8809-457A-B69E-80E591003174}">
  <a:tblStyle styleId="{5FCE57C2-8809-457A-B69E-80E59100317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Tahoma-regular.fnt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LibreBaskerville-regular.fntdata"/><Relationship Id="rId21" Type="http://schemas.openxmlformats.org/officeDocument/2006/relationships/slide" Target="slides/slide15.xml"/><Relationship Id="rId43" Type="http://schemas.openxmlformats.org/officeDocument/2006/relationships/font" Target="fonts/Tahoma-bold.fntdata"/><Relationship Id="rId24" Type="http://schemas.openxmlformats.org/officeDocument/2006/relationships/slide" Target="slides/slide18.xml"/><Relationship Id="rId46" Type="http://schemas.openxmlformats.org/officeDocument/2006/relationships/font" Target="fonts/LibreBaskerville-italic.fntdata"/><Relationship Id="rId23" Type="http://schemas.openxmlformats.org/officeDocument/2006/relationships/slide" Target="slides/slide17.xml"/><Relationship Id="rId45" Type="http://schemas.openxmlformats.org/officeDocument/2006/relationships/font" Target="fonts/LibreBaskervill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Farazul H Bhuiyan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Lecturer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Dept. of CSE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BRAC University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Bangladesh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		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8" name="Google Shape;38;p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9" name="Google Shape;39;p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77" name="Google Shape;77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88" name="Google Shape;8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jp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jpg"/><Relationship Id="rId4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ctrTitle"/>
          </p:nvPr>
        </p:nvSpPr>
        <p:spPr>
          <a:xfrm>
            <a:off x="685800" y="71596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CSE 260</a:t>
            </a:r>
            <a:b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Logic Design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600200" y="3913187"/>
            <a:ext cx="54864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Text Books: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85800" y="4160837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Core Texts: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38200" y="4618037"/>
            <a:ext cx="81534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Digital Logic And Computer Design, Morris Mano</a:t>
            </a:r>
            <a:b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81037" y="5145087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Reference material: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36612" y="5721350"/>
            <a:ext cx="77724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Digital Design Principles and Practices, John F. Wakerly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ctrTitle"/>
          </p:nvPr>
        </p:nvSpPr>
        <p:spPr>
          <a:xfrm>
            <a:off x="685800" y="71596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CSE 260</a:t>
            </a:r>
            <a:b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Logic Design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600200" y="2713037"/>
            <a:ext cx="5486400" cy="13858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Number System &amp; Calculations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Google Shape;111;p16"/>
          <p:cNvGraphicFramePr/>
          <p:nvPr/>
        </p:nvGraphicFramePr>
        <p:xfrm>
          <a:off x="495300" y="414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{5FCE57C2-8809-457A-B69E-80E591003174}</a:tableStyleId>
              </a:tblPr>
              <a:tblGrid>
                <a:gridCol w="4133850"/>
                <a:gridCol w="4133850"/>
              </a:tblGrid>
              <a:tr h="919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68"/>
                        </a:buClr>
                        <a:buSzPts val="3600"/>
                        <a:buFont typeface="Arial"/>
                        <a:buNone/>
                      </a:pPr>
                      <a:r>
                        <a:rPr b="1" i="0" lang="en-US" sz="3600" u="none" cap="none" strike="noStrike">
                          <a:solidFill>
                            <a:srgbClr val="2222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Objective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68"/>
                        </a:buClr>
                        <a:buSzPts val="3600"/>
                        <a:buFont typeface="Arial"/>
                        <a:buNone/>
                      </a:pPr>
                      <a:r>
                        <a:rPr b="1" i="0" lang="en-US" sz="3600" u="none" cap="none" strike="noStrike">
                          <a:solidFill>
                            <a:srgbClr val="2222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Analog vs. Digital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3600" u="none">
                        <a:solidFill>
                          <a:srgbClr val="22226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143500">
                <a:tc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Distinguish between analog and digital system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Understand the advantage and limitation of digital system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Understand the meaning of digital logic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8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Analog data can vary over a continuous range of values. Example: speedometer</a:t>
                      </a:r>
                      <a:endParaRPr/>
                    </a:p>
                    <a:p>
                      <a:pPr indent="-1333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33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Digital quantities can take on only discrete values (0 and 1, high and low).    Example: Digital Computer, Decimal Digits, Alphabets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System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digital system is a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combination of devices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designed to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manipulate physical quantities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information that are represented in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digital form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 discreet information processing system”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Signals: Discreet information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" name="Google Shape;122;p18"/>
          <p:cNvGraphicFramePr/>
          <p:nvPr/>
        </p:nvGraphicFramePr>
        <p:xfrm>
          <a:off x="457200" y="29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{5FCE57C2-8809-457A-B69E-80E591003174}</a:tableStyleId>
              </a:tblPr>
              <a:tblGrid>
                <a:gridCol w="4152900"/>
                <a:gridCol w="4152900"/>
              </a:tblGrid>
              <a:tr h="812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68"/>
                        </a:buClr>
                        <a:buSzPts val="3600"/>
                        <a:buFont typeface="Arial"/>
                        <a:buNone/>
                      </a:pPr>
                      <a:r>
                        <a:rPr b="1" i="0" lang="en-US" sz="3600" u="none">
                          <a:solidFill>
                            <a:srgbClr val="2222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Digital Technology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hMerge="1"/>
              </a:tr>
              <a:tr h="81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68"/>
                        </a:buClr>
                        <a:buSzPts val="3600"/>
                        <a:buFont typeface="Arial"/>
                        <a:buNone/>
                      </a:pPr>
                      <a:r>
                        <a:rPr b="0" i="0" lang="en-US" sz="3600" u="none">
                          <a:solidFill>
                            <a:srgbClr val="2222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Advantage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68"/>
                        </a:buClr>
                        <a:buSzPts val="3600"/>
                        <a:buFont typeface="Arial"/>
                        <a:buNone/>
                      </a:pPr>
                      <a:r>
                        <a:rPr b="0" i="0" lang="en-US" sz="3600" u="none">
                          <a:solidFill>
                            <a:srgbClr val="2222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1096950">
                <a:tc rowSpan="3"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accuracy or precision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Easier to design (generality) 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Easier information storage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Programmability (instructions)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Speed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Char char="•"/>
                      </a:pPr>
                      <a:r>
                        <a:rPr b="0" i="0" lang="en-US" sz="28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Economical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8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real world is mainly analog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6413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68"/>
                        </a:buClr>
                        <a:buSzPts val="3600"/>
                        <a:buFont typeface="Arial"/>
                        <a:buNone/>
                      </a:pPr>
                      <a:r>
                        <a:rPr b="0" i="0" lang="en-US" sz="3600" u="none">
                          <a:solidFill>
                            <a:srgbClr val="2222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to Overcome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895600">
                <a:tc vMerge="1"/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Convert the real world analog input data into digital one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this digital data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Char char="•"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Then again convert into analog form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Digital logic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477837" y="14176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logic is a term used to denote the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digital system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logic is concerned with the interconnection among digital components and modules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logic design is engineering and engineering means problem solving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Number systems and codes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Digital Systems are built from circuits that process binary digits. BUT very few real-life problems are based on binary numbers.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SO a digital system designer must establish some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correspondence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between the binary digits processed by digital circuits and real-life numbers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events and conditions. 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Information representation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 decisions tends to be binary i.e. Yes or No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Elementary storage units inside computer are </a:t>
            </a:r>
            <a:r>
              <a:rPr b="0" i="1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electronic switches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Each switch holds one of two states: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(1) or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(0).</a:t>
            </a: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use a </a:t>
            </a:r>
            <a:r>
              <a:rPr b="0" i="1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bit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bi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nary digi</a:t>
            </a:r>
            <a:r>
              <a:rPr b="0" i="1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0 or 1, to represent the state.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units can be grouped together to cater for larger range of numbers.  Example: 2 switches to represent 4 values.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21"/>
          <p:cNvGrpSpPr/>
          <p:nvPr/>
        </p:nvGrpSpPr>
        <p:grpSpPr>
          <a:xfrm>
            <a:off x="2209800" y="2743200"/>
            <a:ext cx="3733800" cy="892175"/>
            <a:chOff x="1632" y="2064"/>
            <a:chExt cx="2352" cy="562"/>
          </a:xfrm>
        </p:grpSpPr>
        <p:grpSp>
          <p:nvGrpSpPr>
            <p:cNvPr id="142" name="Google Shape;142;p21"/>
            <p:cNvGrpSpPr/>
            <p:nvPr/>
          </p:nvGrpSpPr>
          <p:grpSpPr>
            <a:xfrm>
              <a:off x="1632" y="2208"/>
              <a:ext cx="864" cy="48"/>
              <a:chOff x="1392" y="2376"/>
              <a:chExt cx="864" cy="48"/>
            </a:xfrm>
          </p:grpSpPr>
          <p:cxnSp>
            <p:nvCxnSpPr>
              <p:cNvPr id="143" name="Google Shape;143;p21"/>
              <p:cNvCxnSpPr/>
              <p:nvPr/>
            </p:nvCxnSpPr>
            <p:spPr>
              <a:xfrm>
                <a:off x="1392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44" name="Google Shape;144;p21"/>
              <p:cNvCxnSpPr/>
              <p:nvPr/>
            </p:nvCxnSpPr>
            <p:spPr>
              <a:xfrm>
                <a:off x="196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45" name="Google Shape;145;p21"/>
              <p:cNvSpPr/>
              <p:nvPr/>
            </p:nvSpPr>
            <p:spPr>
              <a:xfrm>
                <a:off x="1680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1"/>
              <p:cNvSpPr/>
              <p:nvPr/>
            </p:nvSpPr>
            <p:spPr>
              <a:xfrm flipH="1">
                <a:off x="1938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7" name="Google Shape;147;p21"/>
              <p:cNvCxnSpPr/>
              <p:nvPr/>
            </p:nvCxnSpPr>
            <p:spPr>
              <a:xfrm>
                <a:off x="1692" y="2400"/>
                <a:ext cx="288" cy="0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48" name="Google Shape;148;p21"/>
            <p:cNvGrpSpPr/>
            <p:nvPr/>
          </p:nvGrpSpPr>
          <p:grpSpPr>
            <a:xfrm>
              <a:off x="3120" y="2064"/>
              <a:ext cx="864" cy="216"/>
              <a:chOff x="2688" y="2208"/>
              <a:chExt cx="864" cy="216"/>
            </a:xfrm>
          </p:grpSpPr>
          <p:cxnSp>
            <p:nvCxnSpPr>
              <p:cNvPr id="149" name="Google Shape;149;p21"/>
              <p:cNvCxnSpPr/>
              <p:nvPr/>
            </p:nvCxnSpPr>
            <p:spPr>
              <a:xfrm>
                <a:off x="268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50" name="Google Shape;150;p21"/>
              <p:cNvCxnSpPr/>
              <p:nvPr/>
            </p:nvCxnSpPr>
            <p:spPr>
              <a:xfrm>
                <a:off x="3264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51" name="Google Shape;151;p21"/>
              <p:cNvSpPr/>
              <p:nvPr/>
            </p:nvSpPr>
            <p:spPr>
              <a:xfrm>
                <a:off x="2976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1"/>
              <p:cNvSpPr/>
              <p:nvPr/>
            </p:nvSpPr>
            <p:spPr>
              <a:xfrm flipH="1">
                <a:off x="3234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53" name="Google Shape;153;p21"/>
              <p:cNvCxnSpPr/>
              <p:nvPr/>
            </p:nvCxnSpPr>
            <p:spPr>
              <a:xfrm flipH="1" rot="10800000">
                <a:off x="2988" y="2208"/>
                <a:ext cx="276" cy="192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154" name="Google Shape;154;p21"/>
            <p:cNvSpPr txBox="1"/>
            <p:nvPr/>
          </p:nvSpPr>
          <p:spPr>
            <a:xfrm>
              <a:off x="1893" y="2338"/>
              <a:ext cx="48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</a:t>
              </a:r>
              <a:endParaRPr/>
            </a:p>
          </p:txBody>
        </p:sp>
        <p:sp>
          <p:nvSpPr>
            <p:cNvPr id="155" name="Google Shape;155;p21"/>
            <p:cNvSpPr txBox="1"/>
            <p:nvPr/>
          </p:nvSpPr>
          <p:spPr>
            <a:xfrm>
              <a:off x="3262" y="2326"/>
              <a:ext cx="52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OFF</a:t>
              </a:r>
              <a:endParaRPr/>
            </a:p>
          </p:txBody>
        </p:sp>
      </p:grpSp>
      <p:grpSp>
        <p:nvGrpSpPr>
          <p:cNvPr id="156" name="Google Shape;156;p21"/>
          <p:cNvGrpSpPr/>
          <p:nvPr/>
        </p:nvGrpSpPr>
        <p:grpSpPr>
          <a:xfrm>
            <a:off x="2209800" y="4806950"/>
            <a:ext cx="4846637" cy="1768475"/>
            <a:chOff x="1392" y="1776"/>
            <a:chExt cx="3053" cy="1114"/>
          </a:xfrm>
        </p:grpSpPr>
        <p:grpSp>
          <p:nvGrpSpPr>
            <p:cNvPr id="157" name="Google Shape;157;p21"/>
            <p:cNvGrpSpPr/>
            <p:nvPr/>
          </p:nvGrpSpPr>
          <p:grpSpPr>
            <a:xfrm>
              <a:off x="1392" y="2784"/>
              <a:ext cx="864" cy="48"/>
              <a:chOff x="1392" y="2376"/>
              <a:chExt cx="864" cy="48"/>
            </a:xfrm>
          </p:grpSpPr>
          <p:cxnSp>
            <p:nvCxnSpPr>
              <p:cNvPr id="158" name="Google Shape;158;p21"/>
              <p:cNvCxnSpPr/>
              <p:nvPr/>
            </p:nvCxnSpPr>
            <p:spPr>
              <a:xfrm>
                <a:off x="1392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59" name="Google Shape;159;p21"/>
              <p:cNvCxnSpPr/>
              <p:nvPr/>
            </p:nvCxnSpPr>
            <p:spPr>
              <a:xfrm>
                <a:off x="196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60" name="Google Shape;160;p21"/>
              <p:cNvSpPr/>
              <p:nvPr/>
            </p:nvSpPr>
            <p:spPr>
              <a:xfrm>
                <a:off x="1680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1"/>
              <p:cNvSpPr/>
              <p:nvPr/>
            </p:nvSpPr>
            <p:spPr>
              <a:xfrm flipH="1">
                <a:off x="1938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2" name="Google Shape;162;p21"/>
              <p:cNvCxnSpPr/>
              <p:nvPr/>
            </p:nvCxnSpPr>
            <p:spPr>
              <a:xfrm>
                <a:off x="1692" y="2400"/>
                <a:ext cx="288" cy="0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63" name="Google Shape;163;p21"/>
            <p:cNvGrpSpPr/>
            <p:nvPr/>
          </p:nvGrpSpPr>
          <p:grpSpPr>
            <a:xfrm>
              <a:off x="1392" y="2496"/>
              <a:ext cx="864" cy="48"/>
              <a:chOff x="1392" y="2376"/>
              <a:chExt cx="864" cy="48"/>
            </a:xfrm>
          </p:grpSpPr>
          <p:cxnSp>
            <p:nvCxnSpPr>
              <p:cNvPr id="164" name="Google Shape;164;p21"/>
              <p:cNvCxnSpPr/>
              <p:nvPr/>
            </p:nvCxnSpPr>
            <p:spPr>
              <a:xfrm>
                <a:off x="1392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65" name="Google Shape;165;p21"/>
              <p:cNvCxnSpPr/>
              <p:nvPr/>
            </p:nvCxnSpPr>
            <p:spPr>
              <a:xfrm>
                <a:off x="196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66" name="Google Shape;166;p21"/>
              <p:cNvSpPr/>
              <p:nvPr/>
            </p:nvSpPr>
            <p:spPr>
              <a:xfrm>
                <a:off x="1680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1"/>
              <p:cNvSpPr/>
              <p:nvPr/>
            </p:nvSpPr>
            <p:spPr>
              <a:xfrm flipH="1">
                <a:off x="1938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8" name="Google Shape;168;p21"/>
              <p:cNvCxnSpPr/>
              <p:nvPr/>
            </p:nvCxnSpPr>
            <p:spPr>
              <a:xfrm>
                <a:off x="1692" y="2400"/>
                <a:ext cx="288" cy="0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69" name="Google Shape;169;p21"/>
            <p:cNvGrpSpPr/>
            <p:nvPr/>
          </p:nvGrpSpPr>
          <p:grpSpPr>
            <a:xfrm>
              <a:off x="2496" y="2208"/>
              <a:ext cx="864" cy="48"/>
              <a:chOff x="1392" y="2376"/>
              <a:chExt cx="864" cy="48"/>
            </a:xfrm>
          </p:grpSpPr>
          <p:cxnSp>
            <p:nvCxnSpPr>
              <p:cNvPr id="170" name="Google Shape;170;p21"/>
              <p:cNvCxnSpPr/>
              <p:nvPr/>
            </p:nvCxnSpPr>
            <p:spPr>
              <a:xfrm>
                <a:off x="1392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21"/>
              <p:cNvCxnSpPr/>
              <p:nvPr/>
            </p:nvCxnSpPr>
            <p:spPr>
              <a:xfrm>
                <a:off x="196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72" name="Google Shape;172;p21"/>
              <p:cNvSpPr/>
              <p:nvPr/>
            </p:nvSpPr>
            <p:spPr>
              <a:xfrm>
                <a:off x="1680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1"/>
              <p:cNvSpPr/>
              <p:nvPr/>
            </p:nvSpPr>
            <p:spPr>
              <a:xfrm flipH="1">
                <a:off x="1938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4" name="Google Shape;174;p21"/>
              <p:cNvCxnSpPr/>
              <p:nvPr/>
            </p:nvCxnSpPr>
            <p:spPr>
              <a:xfrm>
                <a:off x="1692" y="2400"/>
                <a:ext cx="288" cy="0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75" name="Google Shape;175;p21"/>
            <p:cNvGrpSpPr/>
            <p:nvPr/>
          </p:nvGrpSpPr>
          <p:grpSpPr>
            <a:xfrm>
              <a:off x="2496" y="2784"/>
              <a:ext cx="864" cy="48"/>
              <a:chOff x="1392" y="2376"/>
              <a:chExt cx="864" cy="48"/>
            </a:xfrm>
          </p:grpSpPr>
          <p:cxnSp>
            <p:nvCxnSpPr>
              <p:cNvPr id="176" name="Google Shape;176;p21"/>
              <p:cNvCxnSpPr/>
              <p:nvPr/>
            </p:nvCxnSpPr>
            <p:spPr>
              <a:xfrm>
                <a:off x="1392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77" name="Google Shape;177;p21"/>
              <p:cNvCxnSpPr/>
              <p:nvPr/>
            </p:nvCxnSpPr>
            <p:spPr>
              <a:xfrm>
                <a:off x="196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78" name="Google Shape;178;p21"/>
              <p:cNvSpPr/>
              <p:nvPr/>
            </p:nvSpPr>
            <p:spPr>
              <a:xfrm>
                <a:off x="1680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1"/>
              <p:cNvSpPr/>
              <p:nvPr/>
            </p:nvSpPr>
            <p:spPr>
              <a:xfrm flipH="1">
                <a:off x="1938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0" name="Google Shape;180;p21"/>
              <p:cNvCxnSpPr/>
              <p:nvPr/>
            </p:nvCxnSpPr>
            <p:spPr>
              <a:xfrm>
                <a:off x="1692" y="2400"/>
                <a:ext cx="288" cy="0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81" name="Google Shape;181;p21"/>
            <p:cNvGrpSpPr/>
            <p:nvPr/>
          </p:nvGrpSpPr>
          <p:grpSpPr>
            <a:xfrm>
              <a:off x="2496" y="2352"/>
              <a:ext cx="864" cy="216"/>
              <a:chOff x="2688" y="2208"/>
              <a:chExt cx="864" cy="216"/>
            </a:xfrm>
          </p:grpSpPr>
          <p:cxnSp>
            <p:nvCxnSpPr>
              <p:cNvPr id="182" name="Google Shape;182;p21"/>
              <p:cNvCxnSpPr/>
              <p:nvPr/>
            </p:nvCxnSpPr>
            <p:spPr>
              <a:xfrm>
                <a:off x="268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83" name="Google Shape;183;p21"/>
              <p:cNvCxnSpPr/>
              <p:nvPr/>
            </p:nvCxnSpPr>
            <p:spPr>
              <a:xfrm>
                <a:off x="3264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84" name="Google Shape;184;p21"/>
              <p:cNvSpPr/>
              <p:nvPr/>
            </p:nvSpPr>
            <p:spPr>
              <a:xfrm>
                <a:off x="2976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1"/>
              <p:cNvSpPr/>
              <p:nvPr/>
            </p:nvSpPr>
            <p:spPr>
              <a:xfrm flipH="1">
                <a:off x="3234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6" name="Google Shape;186;p21"/>
              <p:cNvCxnSpPr/>
              <p:nvPr/>
            </p:nvCxnSpPr>
            <p:spPr>
              <a:xfrm flipH="1" rot="10800000">
                <a:off x="2988" y="2208"/>
                <a:ext cx="276" cy="192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87" name="Google Shape;187;p21"/>
            <p:cNvGrpSpPr/>
            <p:nvPr/>
          </p:nvGrpSpPr>
          <p:grpSpPr>
            <a:xfrm>
              <a:off x="2496" y="1776"/>
              <a:ext cx="864" cy="216"/>
              <a:chOff x="2688" y="2208"/>
              <a:chExt cx="864" cy="216"/>
            </a:xfrm>
          </p:grpSpPr>
          <p:cxnSp>
            <p:nvCxnSpPr>
              <p:cNvPr id="188" name="Google Shape;188;p21"/>
              <p:cNvCxnSpPr/>
              <p:nvPr/>
            </p:nvCxnSpPr>
            <p:spPr>
              <a:xfrm>
                <a:off x="268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89" name="Google Shape;189;p21"/>
              <p:cNvCxnSpPr/>
              <p:nvPr/>
            </p:nvCxnSpPr>
            <p:spPr>
              <a:xfrm>
                <a:off x="3264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0" name="Google Shape;190;p21"/>
              <p:cNvSpPr/>
              <p:nvPr/>
            </p:nvSpPr>
            <p:spPr>
              <a:xfrm>
                <a:off x="2976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21"/>
              <p:cNvSpPr/>
              <p:nvPr/>
            </p:nvSpPr>
            <p:spPr>
              <a:xfrm flipH="1">
                <a:off x="3234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2" name="Google Shape;192;p21"/>
              <p:cNvCxnSpPr/>
              <p:nvPr/>
            </p:nvCxnSpPr>
            <p:spPr>
              <a:xfrm flipH="1" rot="10800000">
                <a:off x="2988" y="2208"/>
                <a:ext cx="276" cy="192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93" name="Google Shape;193;p21"/>
            <p:cNvGrpSpPr/>
            <p:nvPr/>
          </p:nvGrpSpPr>
          <p:grpSpPr>
            <a:xfrm>
              <a:off x="1392" y="1776"/>
              <a:ext cx="864" cy="216"/>
              <a:chOff x="2688" y="2208"/>
              <a:chExt cx="864" cy="216"/>
            </a:xfrm>
          </p:grpSpPr>
          <p:cxnSp>
            <p:nvCxnSpPr>
              <p:cNvPr id="194" name="Google Shape;194;p21"/>
              <p:cNvCxnSpPr/>
              <p:nvPr/>
            </p:nvCxnSpPr>
            <p:spPr>
              <a:xfrm>
                <a:off x="268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5" name="Google Shape;195;p21"/>
              <p:cNvCxnSpPr/>
              <p:nvPr/>
            </p:nvCxnSpPr>
            <p:spPr>
              <a:xfrm>
                <a:off x="3264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6" name="Google Shape;196;p21"/>
              <p:cNvSpPr/>
              <p:nvPr/>
            </p:nvSpPr>
            <p:spPr>
              <a:xfrm>
                <a:off x="2976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1"/>
              <p:cNvSpPr/>
              <p:nvPr/>
            </p:nvSpPr>
            <p:spPr>
              <a:xfrm flipH="1">
                <a:off x="3234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8" name="Google Shape;198;p21"/>
              <p:cNvCxnSpPr/>
              <p:nvPr/>
            </p:nvCxnSpPr>
            <p:spPr>
              <a:xfrm flipH="1" rot="10800000">
                <a:off x="2988" y="2208"/>
                <a:ext cx="276" cy="192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99" name="Google Shape;199;p21"/>
            <p:cNvGrpSpPr/>
            <p:nvPr/>
          </p:nvGrpSpPr>
          <p:grpSpPr>
            <a:xfrm>
              <a:off x="1392" y="2064"/>
              <a:ext cx="864" cy="216"/>
              <a:chOff x="2688" y="2208"/>
              <a:chExt cx="864" cy="216"/>
            </a:xfrm>
          </p:grpSpPr>
          <p:cxnSp>
            <p:nvCxnSpPr>
              <p:cNvPr id="200" name="Google Shape;200;p21"/>
              <p:cNvCxnSpPr/>
              <p:nvPr/>
            </p:nvCxnSpPr>
            <p:spPr>
              <a:xfrm>
                <a:off x="2688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01" name="Google Shape;201;p21"/>
              <p:cNvCxnSpPr/>
              <p:nvPr/>
            </p:nvCxnSpPr>
            <p:spPr>
              <a:xfrm>
                <a:off x="3264" y="2400"/>
                <a:ext cx="288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02" name="Google Shape;202;p21"/>
              <p:cNvSpPr/>
              <p:nvPr/>
            </p:nvSpPr>
            <p:spPr>
              <a:xfrm>
                <a:off x="2976" y="2376"/>
                <a:ext cx="48" cy="48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1"/>
              <p:cNvSpPr/>
              <p:nvPr/>
            </p:nvSpPr>
            <p:spPr>
              <a:xfrm flipH="1">
                <a:off x="3234" y="2377"/>
                <a:ext cx="48" cy="4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4" name="Google Shape;204;p21"/>
              <p:cNvCxnSpPr/>
              <p:nvPr/>
            </p:nvCxnSpPr>
            <p:spPr>
              <a:xfrm flipH="1" rot="10800000">
                <a:off x="2988" y="2208"/>
                <a:ext cx="276" cy="192"/>
              </a:xfrm>
              <a:prstGeom prst="straightConnector1">
                <a:avLst/>
              </a:prstGeom>
              <a:noFill/>
              <a:ln cap="flat" cmpd="sng" w="635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205" name="Google Shape;205;p21"/>
            <p:cNvSpPr txBox="1"/>
            <p:nvPr/>
          </p:nvSpPr>
          <p:spPr>
            <a:xfrm>
              <a:off x="3696" y="1776"/>
              <a:ext cx="749" cy="11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 (00)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(01)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(10)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(11)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Information representation</a:t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bits can represent 2</a:t>
            </a:r>
            <a:r>
              <a:rPr b="0" baseline="3000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different values.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values,                  bits are needed.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0" y="2057400"/>
            <a:ext cx="1352550" cy="51593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914400" y="2819400"/>
            <a:ext cx="7848600" cy="283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 bit  → represents up to 2 values (0 or 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 bits → rep. up to 4 values (00, 01, 10 or 11)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 bits → rep. up to 8 values (000, 001, 010. …, 110, 111)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 bits → rep. up to 16 values (0000, 0001, 0010, …, 1111)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32 values     → requires 5 bits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64 values     → requires 6 bits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1024 values → requires 10 bits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40 values     → requires 6 bits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100 values   → requires 7 bits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type="title"/>
          </p:nvPr>
        </p:nvSpPr>
        <p:spPr>
          <a:xfrm>
            <a:off x="457200" y="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Positional Notations</a:t>
            </a:r>
            <a:endParaRPr/>
          </a:p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457200" y="914400"/>
            <a:ext cx="8229600" cy="53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Decimal number system, symbols = { 0, 1, 2, 3, …, 9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Position is important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Example:(7594)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(7x10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(5x10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(9x10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(4x10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 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… +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(2.75)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(2 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(7 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(5 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 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… f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… + (a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(f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(f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+ … + (f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10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-m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Number Systems</a:t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(base 2): weights in powers-of-2. Binary digits (bits): </a:t>
            </a: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0,1.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Octal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(base 8): weights in powers-of-8. Octal digits: </a:t>
            </a: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0,1,2,3,4,5,6,7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Hexadecimal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(base 16): weights in powers-of-16. Hexadecimal digits: </a:t>
            </a: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0,1,2,3,4,5,6,7,8,9,A,B,C,D,E,F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when base is r, coefficient values range from 0 to r-1.</a:t>
            </a:r>
            <a:endParaRPr/>
          </a:p>
          <a:p>
            <a:pPr indent="-99059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9059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1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>
            <p:ph type="title"/>
          </p:nvPr>
        </p:nvSpPr>
        <p:spPr>
          <a:xfrm>
            <a:off x="457200" y="-30162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Number System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381000" y="609600"/>
            <a:ext cx="83058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71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60"/>
              <a:buFont typeface="Noto Sans Symbols"/>
              <a:buChar char="▪"/>
            </a:pPr>
            <a:r>
              <a:rPr b="0" i="0" lang="en-US" sz="1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(base 2): weights in powers-of-2. Binary digits (bits): 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0,1.</a:t>
            </a:r>
            <a:endParaRPr/>
          </a:p>
          <a:p>
            <a:pPr indent="-1371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60"/>
              <a:buFont typeface="Noto Sans Symbols"/>
              <a:buChar char="▪"/>
            </a:pPr>
            <a:r>
              <a:rPr b="0" i="0" lang="en-US" sz="1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Octal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(base 8): weights in powers-of-8. Octal digits: 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0,1,2,3,4,5,6,7</a:t>
            </a:r>
            <a:endParaRPr/>
          </a:p>
          <a:p>
            <a:pPr indent="-1371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160"/>
              <a:buFont typeface="Noto Sans Symbols"/>
              <a:buChar char="▪"/>
            </a:pPr>
            <a:r>
              <a:rPr b="0" i="0" lang="en-US" sz="1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Hexadecimal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(base 16): weights in powers-of-16. Hexadecimal digits: </a:t>
            </a:r>
            <a:r>
              <a:rPr b="1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0,1,2,3,4,5,6,7,8,9,A,B,C,D,E,F</a:t>
            </a:r>
            <a:endParaRPr/>
          </a:p>
        </p:txBody>
      </p:sp>
      <p:graphicFrame>
        <p:nvGraphicFramePr>
          <p:cNvPr id="233" name="Google Shape;233;p25"/>
          <p:cNvGraphicFramePr/>
          <p:nvPr/>
        </p:nvGraphicFramePr>
        <p:xfrm>
          <a:off x="12573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{5FCE57C2-8809-457A-B69E-80E591003174}</a:tableStyleId>
              </a:tblPr>
              <a:tblGrid>
                <a:gridCol w="1638300"/>
                <a:gridCol w="1638300"/>
                <a:gridCol w="1638300"/>
                <a:gridCol w="1638300"/>
              </a:tblGrid>
              <a:tr h="274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Octal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Decimal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Hexadecimal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4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74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-US" sz="11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Base-R to Decimal Conversion</a:t>
            </a:r>
            <a:endParaRPr/>
          </a:p>
        </p:txBody>
      </p:sp>
      <p:sp>
        <p:nvSpPr>
          <p:cNvPr id="239" name="Google Shape;239;p26"/>
          <p:cNvSpPr txBox="1"/>
          <p:nvPr>
            <p:ph idx="1" type="body"/>
          </p:nvPr>
        </p:nvSpPr>
        <p:spPr>
          <a:xfrm>
            <a:off x="457200" y="1600200"/>
            <a:ext cx="8686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***Formula= ∑ digit * source_base</a:t>
            </a:r>
            <a:r>
              <a:rPr b="1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position</a:t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9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(1101.101)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 1×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 1×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+ 1×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+ 1×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-3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= 8 + 4 + 1 + 0.5 + 0.125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= (13.625)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213359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(572.6)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5×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 7×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 2×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+ 6×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baseline="3000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  = 320 + 56 + 2 + 0.75 = (378.75)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213359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(2A.8)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+ 10×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+ 8×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baseline="3000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      = 32 + 10 + 0.5 = (42.5)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213359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(341.24)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3×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 4×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+ 1×</a:t>
            </a:r>
            <a:r>
              <a:rPr b="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baseline="30000" i="0" lang="en-US" sz="2800" u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+ 2×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baseline="3000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+ 4×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baseline="3000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= 75 + 20 + 1 + 0.4 + 0.16 = (96.56)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baseline="-25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>
            <p:ph type="title"/>
          </p:nvPr>
        </p:nvSpPr>
        <p:spPr>
          <a:xfrm>
            <a:off x="457200" y="98425"/>
            <a:ext cx="8229600" cy="671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Decimal-to-Binary Conversion</a:t>
            </a:r>
            <a:endParaRPr/>
          </a:p>
        </p:txBody>
      </p:sp>
      <p:sp>
        <p:nvSpPr>
          <p:cNvPr id="245" name="Google Shape;245;p2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 1:</a:t>
            </a:r>
            <a:r>
              <a:rPr b="0" i="1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Sum-of-Weights Method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0" i="1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Note: Remembering the below value helps</a:t>
            </a:r>
            <a:br>
              <a:rPr b="0" i="1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1" sz="320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1" sz="3200" u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 2: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160"/>
              <a:buFont typeface="Noto Sans Symbols"/>
              <a:buChar char="❖"/>
            </a:pPr>
            <a:r>
              <a:rPr b="0" i="1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Repeated Division-by-2 Method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(for whole numbers)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FF"/>
              </a:buClr>
              <a:buSzPts val="2160"/>
              <a:buFont typeface="Noto Sans Symbols"/>
              <a:buChar char="❖"/>
            </a:pPr>
            <a:r>
              <a:rPr b="0" i="1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Repeated Multiplication-by-2 Method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(for fractions)</a:t>
            </a:r>
            <a:endParaRPr b="0" i="1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479425" y="3286125"/>
            <a:ext cx="331787" cy="660400"/>
          </a:xfrm>
          <a:prstGeom prst="downArrow">
            <a:avLst>
              <a:gd fmla="val 16174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7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403040" y="2789035"/>
            <a:ext cx="8128379" cy="1692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A2E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,	2</a:t>
            </a:r>
            <a:r>
              <a:rPr b="1" baseline="30000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,	2</a:t>
            </a:r>
            <a:r>
              <a:rPr b="1" baseline="30000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,	2</a:t>
            </a:r>
            <a:r>
              <a:rPr b="1" baseline="30000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,	2</a:t>
            </a:r>
            <a:r>
              <a:rPr b="1" baseline="30000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,	2</a:t>
            </a:r>
            <a:r>
              <a:rPr b="1" baseline="30000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,	2</a:t>
            </a:r>
            <a:r>
              <a:rPr b="1" baseline="30000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,	2</a:t>
            </a:r>
            <a:r>
              <a:rPr b="1" baseline="30000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,	2</a:t>
            </a:r>
            <a:r>
              <a:rPr b="1" baseline="30000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baseline="30000" i="0" sz="2400" u="none" cap="none" strike="noStrike">
              <a:solidFill>
                <a:srgbClr val="A2A2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baseline="30000" i="0" sz="2400" u="none" cap="none" strike="noStrike">
              <a:solidFill>
                <a:srgbClr val="A2A2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A2E0"/>
              </a:buClr>
              <a:buSzPts val="2400"/>
              <a:buFont typeface="Arial"/>
              <a:buNone/>
            </a:pPr>
            <a:br>
              <a:rPr b="1" i="0" lang="en-US" sz="2400" u="none" cap="none" strike="noStrike">
                <a:solidFill>
                  <a:srgbClr val="A2A2E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A2A2E0"/>
                </a:solidFill>
                <a:latin typeface="Calibri"/>
                <a:ea typeface="Calibri"/>
                <a:cs typeface="Calibri"/>
                <a:sym typeface="Calibri"/>
              </a:rPr>
              <a:t>256,	128,	64,	32,	16,	8,	4,	2,	1</a:t>
            </a:r>
            <a:endParaRPr b="1" i="0" sz="2400" u="none" cap="none" strike="noStrike">
              <a:solidFill>
                <a:srgbClr val="A2A2E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1419225" y="3305175"/>
            <a:ext cx="330200" cy="66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2381250" y="3309937"/>
            <a:ext cx="330200" cy="66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3208337" y="3305175"/>
            <a:ext cx="330200" cy="66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4175125" y="3305175"/>
            <a:ext cx="330200" cy="66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5067300" y="3286125"/>
            <a:ext cx="330200" cy="66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5957887" y="3278187"/>
            <a:ext cx="331787" cy="660400"/>
          </a:xfrm>
          <a:prstGeom prst="downArrow">
            <a:avLst>
              <a:gd fmla="val 16174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6883400" y="3227387"/>
            <a:ext cx="330200" cy="661987"/>
          </a:xfrm>
          <a:prstGeom prst="downArrow">
            <a:avLst>
              <a:gd fmla="val 16213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7807325" y="3227387"/>
            <a:ext cx="330200" cy="661987"/>
          </a:xfrm>
          <a:prstGeom prst="downArrow">
            <a:avLst>
              <a:gd fmla="val 16213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6096000" y="990600"/>
            <a:ext cx="2041525" cy="762000"/>
          </a:xfrm>
          <a:prstGeom prst="wedgeEllipseCallout">
            <a:avLst>
              <a:gd fmla="val -73" name="adj1"/>
              <a:gd fmla="val 31554" name="adj2"/>
            </a:avLst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Works for binary</a:t>
            </a:r>
            <a:endParaRPr/>
          </a:p>
        </p:txBody>
      </p:sp>
      <p:sp>
        <p:nvSpPr>
          <p:cNvPr id="258" name="Google Shape;258;p27"/>
          <p:cNvSpPr/>
          <p:nvPr/>
        </p:nvSpPr>
        <p:spPr>
          <a:xfrm>
            <a:off x="3538537" y="4454525"/>
            <a:ext cx="2970212" cy="762000"/>
          </a:xfrm>
          <a:prstGeom prst="wedgeEllipseCallout">
            <a:avLst>
              <a:gd fmla="val -7693" name="adj1"/>
              <a:gd fmla="val 15692" name="adj2"/>
            </a:avLst>
          </a:prstGeom>
          <a:solidFill>
            <a:schemeClr val="accent1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Works for all base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Conversion between Decimal and other Bases</a:t>
            </a:r>
            <a:endParaRPr/>
          </a:p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457200" y="17224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Decimal to base-R [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 2]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520"/>
              <a:buFont typeface="Noto Sans Symbols"/>
              <a:buChar char="❖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whole numbers: repeated division-by-R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520"/>
              <a:buFont typeface="Noto Sans Symbols"/>
              <a:buChar char="❖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fractions: repeated multiplication-by-R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Repeated Division-by-2 Method</a:t>
            </a:r>
            <a:endParaRPr/>
          </a:p>
        </p:txBody>
      </p:sp>
      <p:sp>
        <p:nvSpPr>
          <p:cNvPr id="270" name="Google Shape;270;p29"/>
          <p:cNvSpPr txBox="1"/>
          <p:nvPr>
            <p:ph idx="1" type="body"/>
          </p:nvPr>
        </p:nvSpPr>
        <p:spPr>
          <a:xfrm>
            <a:off x="457200" y="1600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convert a </a:t>
            </a: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whole number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binary, use </a:t>
            </a:r>
            <a:r>
              <a:rPr b="0" i="0" lang="en-US" sz="28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successive division by 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until the quotient is 0.  The remainders form the answer, with the first remainder as the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least significant bit (LSB)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the last as the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significant bit (MSB)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(43)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(101011)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baseline="-2500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2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2286000"/>
            <a:ext cx="2784475" cy="2614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Repeated Multiplication-by-2 Method</a:t>
            </a:r>
            <a:endParaRPr/>
          </a:p>
        </p:txBody>
      </p:sp>
      <p:sp>
        <p:nvSpPr>
          <p:cNvPr id="277" name="Google Shape;277;p30"/>
          <p:cNvSpPr txBox="1"/>
          <p:nvPr>
            <p:ph idx="1" type="body"/>
          </p:nvPr>
        </p:nvSpPr>
        <p:spPr>
          <a:xfrm>
            <a:off x="457200" y="1600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convert </a:t>
            </a:r>
            <a:r>
              <a:rPr b="0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decimal fractions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binary, </a:t>
            </a:r>
            <a:r>
              <a:rPr b="0" i="0" lang="en-US" sz="24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repeated multiplication by 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used, until the fractional product is 0 (or until the desired number of decimal places). The carried digits, or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carries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produce the answer, with the first carry as the MSB, and the last as the LSB.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(0.3125)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(.0101)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3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2897187"/>
            <a:ext cx="4038600" cy="1931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difference between conversion of integer and fraction</a:t>
            </a:r>
            <a:endParaRPr/>
          </a:p>
        </p:txBody>
      </p:sp>
      <p:sp>
        <p:nvSpPr>
          <p:cNvPr id="284" name="Google Shape;284;p31"/>
          <p:cNvSpPr txBox="1"/>
          <p:nvPr>
            <p:ph idx="1" type="body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Integer</a:t>
            </a:r>
            <a:endParaRPr/>
          </a:p>
        </p:txBody>
      </p:sp>
      <p:sp>
        <p:nvSpPr>
          <p:cNvPr id="285" name="Google Shape;285;p31"/>
          <p:cNvSpPr txBox="1"/>
          <p:nvPr>
            <p:ph idx="1" type="body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Division by base of target no. system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Remainders are accumulated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division we obtain LSB to MSB</a:t>
            </a:r>
            <a:endParaRPr/>
          </a:p>
        </p:txBody>
      </p:sp>
      <p:sp>
        <p:nvSpPr>
          <p:cNvPr id="286" name="Google Shape;286;p31"/>
          <p:cNvSpPr txBox="1"/>
          <p:nvPr>
            <p:ph idx="1" type="body"/>
          </p:nvPr>
        </p:nvSpPr>
        <p:spPr>
          <a:xfrm>
            <a:off x="4645025" y="1535112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endParaRPr/>
          </a:p>
        </p:txBody>
      </p:sp>
      <p:sp>
        <p:nvSpPr>
          <p:cNvPr id="287" name="Google Shape;287;p31"/>
          <p:cNvSpPr txBox="1"/>
          <p:nvPr>
            <p:ph idx="2" type="body"/>
          </p:nvPr>
        </p:nvSpPr>
        <p:spPr>
          <a:xfrm>
            <a:off x="4645025" y="2174875"/>
            <a:ext cx="4041775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Multiplication by base of target no. system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Integers are accumulated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multiplication we obtain MSB to LSB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Binary-Octal/Hexadecimal Conversion</a:t>
            </a:r>
            <a:endParaRPr/>
          </a:p>
        </p:txBody>
      </p:sp>
      <p:sp>
        <p:nvSpPr>
          <p:cNvPr id="293" name="Google Shape;293;p3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Binary → Octal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Partition in groups of 3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(10 111 011 001 . 101 110)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(2731.56)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Octal → Binary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reverse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(2731.56)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(10 111 011 001 . 101 110)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Binary → Hexadecimal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Partition in groups of 4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(101 1101 1001 . 1011 1000)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(5D9.B8)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3840"/>
              <a:buFont typeface="Noto Sans Symbols"/>
              <a:buChar char="▪"/>
            </a:pPr>
            <a:r>
              <a:rPr b="0" i="0" lang="en-US" sz="32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Hexadecimal → Binary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reverse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(5D9.B8)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(101 1101 1001 . 1011 1000)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2"/>
          <p:cNvSpPr/>
          <p:nvPr/>
        </p:nvSpPr>
        <p:spPr>
          <a:xfrm rot="-5400000">
            <a:off x="1562100" y="24003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2"/>
          <p:cNvSpPr/>
          <p:nvPr/>
        </p:nvSpPr>
        <p:spPr>
          <a:xfrm rot="-5400000">
            <a:off x="2171700" y="24003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2"/>
          <p:cNvSpPr/>
          <p:nvPr/>
        </p:nvSpPr>
        <p:spPr>
          <a:xfrm rot="-5400000">
            <a:off x="2781300" y="24003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2"/>
          <p:cNvSpPr/>
          <p:nvPr/>
        </p:nvSpPr>
        <p:spPr>
          <a:xfrm rot="-5400000">
            <a:off x="3529012" y="2414587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2"/>
          <p:cNvSpPr/>
          <p:nvPr/>
        </p:nvSpPr>
        <p:spPr>
          <a:xfrm rot="-5400000">
            <a:off x="4425950" y="24003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2"/>
          <p:cNvSpPr/>
          <p:nvPr/>
        </p:nvSpPr>
        <p:spPr>
          <a:xfrm rot="-5400000">
            <a:off x="5140325" y="24003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2"/>
          <p:cNvSpPr/>
          <p:nvPr/>
        </p:nvSpPr>
        <p:spPr>
          <a:xfrm rot="-5400000">
            <a:off x="1619250" y="51435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2"/>
          <p:cNvSpPr/>
          <p:nvPr/>
        </p:nvSpPr>
        <p:spPr>
          <a:xfrm rot="-5400000">
            <a:off x="2451893" y="5049043"/>
            <a:ext cx="158750" cy="576262"/>
          </a:xfrm>
          <a:prstGeom prst="leftBrace">
            <a:avLst>
              <a:gd fmla="val 496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2"/>
          <p:cNvSpPr/>
          <p:nvPr/>
        </p:nvSpPr>
        <p:spPr>
          <a:xfrm rot="-5400000">
            <a:off x="3290887" y="5029200"/>
            <a:ext cx="152400" cy="609600"/>
          </a:xfrm>
          <a:prstGeom prst="leftBrace">
            <a:avLst>
              <a:gd fmla="val 45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2"/>
          <p:cNvSpPr/>
          <p:nvPr/>
        </p:nvSpPr>
        <p:spPr>
          <a:xfrm rot="-5400000">
            <a:off x="4448968" y="5012531"/>
            <a:ext cx="152400" cy="642937"/>
          </a:xfrm>
          <a:prstGeom prst="leftBrace">
            <a:avLst>
              <a:gd fmla="val 427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2"/>
          <p:cNvSpPr/>
          <p:nvPr/>
        </p:nvSpPr>
        <p:spPr>
          <a:xfrm rot="-5400000">
            <a:off x="5303043" y="4998243"/>
            <a:ext cx="152400" cy="671512"/>
          </a:xfrm>
          <a:prstGeom prst="leftBrace">
            <a:avLst>
              <a:gd fmla="val 408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037" y="800100"/>
            <a:ext cx="8035925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Exercise:</a:t>
            </a:r>
            <a:endParaRPr/>
          </a:p>
        </p:txBody>
      </p:sp>
      <p:sp>
        <p:nvSpPr>
          <p:cNvPr id="315" name="Google Shape;315;p34"/>
          <p:cNvSpPr txBox="1"/>
          <p:nvPr>
            <p:ph idx="1" type="body"/>
          </p:nvPr>
        </p:nvSpPr>
        <p:spPr>
          <a:xfrm>
            <a:off x="454025" y="1165225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(1)Try converting this to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(10110001101011.111100000110)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octal b) hexadecimal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 Try converting these to binary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a) (673.124)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b) (306.D)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4"/>
          <p:cNvSpPr txBox="1"/>
          <p:nvPr/>
        </p:nvSpPr>
        <p:spPr>
          <a:xfrm>
            <a:off x="441325" y="33829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Answers:</a:t>
            </a:r>
            <a:endParaRPr/>
          </a:p>
        </p:txBody>
      </p:sp>
      <p:sp>
        <p:nvSpPr>
          <p:cNvPr id="317" name="Google Shape;317;p34"/>
          <p:cNvSpPr txBox="1"/>
          <p:nvPr/>
        </p:nvSpPr>
        <p:spPr>
          <a:xfrm>
            <a:off x="430212" y="4357687"/>
            <a:ext cx="4572000" cy="2668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Both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 (26153.7406)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    b) (2C6B.F06)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b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 a)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(110 111 011 . 001 010 100)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b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(2) b)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(0011 0000 0110 . 1101)</a:t>
            </a:r>
            <a:r>
              <a:rPr b="0" baseline="-2500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baseline="-2500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baseline="-2500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 operations: Addition: Addition Rules w/Carries</a:t>
            </a:r>
            <a:endParaRPr/>
          </a:p>
        </p:txBody>
      </p:sp>
      <p:sp>
        <p:nvSpPr>
          <p:cNvPr id="323" name="Google Shape;323;p35"/>
          <p:cNvSpPr txBox="1"/>
          <p:nvPr>
            <p:ph idx="1" type="body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2 bit</a:t>
            </a:r>
            <a:endParaRPr/>
          </a:p>
        </p:txBody>
      </p:sp>
      <p:sp>
        <p:nvSpPr>
          <p:cNvPr id="324" name="Google Shape;324;p35"/>
          <p:cNvSpPr txBox="1"/>
          <p:nvPr>
            <p:ph idx="1" type="body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+ 0 = 0 0 ( 0 with a 0 carry )</a:t>
            </a:r>
            <a:endParaRPr/>
          </a:p>
          <a:p>
            <a:pPr indent="-273050" lvl="0" marL="342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+ 1 = 0 1 ( 1 with a 0 carry )</a:t>
            </a:r>
            <a:endParaRPr/>
          </a:p>
          <a:p>
            <a:pPr indent="-273050" lvl="0" marL="342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+ 0 = 0 1 ( 1 with a 0 carry )</a:t>
            </a:r>
            <a:endParaRPr/>
          </a:p>
          <a:p>
            <a:pPr indent="-273050" lvl="0" marL="342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+ 1 = 1 0 ( 0 with a 1 carry )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5"/>
          <p:cNvSpPr txBox="1"/>
          <p:nvPr>
            <p:ph idx="1" type="body"/>
          </p:nvPr>
        </p:nvSpPr>
        <p:spPr>
          <a:xfrm>
            <a:off x="4645025" y="1535112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3 bit</a:t>
            </a:r>
            <a:endParaRPr/>
          </a:p>
        </p:txBody>
      </p:sp>
      <p:sp>
        <p:nvSpPr>
          <p:cNvPr id="326" name="Google Shape;326;p35"/>
          <p:cNvSpPr txBox="1"/>
          <p:nvPr>
            <p:ph idx="2" type="body"/>
          </p:nvPr>
        </p:nvSpPr>
        <p:spPr>
          <a:xfrm>
            <a:off x="4645025" y="2174875"/>
            <a:ext cx="4041775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0+0+0 = 0 0 (0 WITH 0 CARRY)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0+0+1 = 0 1 (1 WITH 0 CARRY)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0+1+1 = 1 0 (0 WITH 1 CARRY)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1+1+1 = 1 1 (1 WITH 1 CARRY)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6"/>
          <p:cNvSpPr txBox="1"/>
          <p:nvPr/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2" name="Google Shape;332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Adding Binary Numbers</a:t>
            </a:r>
            <a:endParaRPr/>
          </a:p>
        </p:txBody>
      </p:sp>
      <p:grpSp>
        <p:nvGrpSpPr>
          <p:cNvPr id="333" name="Google Shape;333;p36"/>
          <p:cNvGrpSpPr/>
          <p:nvPr/>
        </p:nvGrpSpPr>
        <p:grpSpPr>
          <a:xfrm>
            <a:off x="1905000" y="2209800"/>
            <a:ext cx="1098550" cy="1676400"/>
            <a:chOff x="338" y="1680"/>
            <a:chExt cx="692" cy="1056"/>
          </a:xfrm>
        </p:grpSpPr>
        <p:sp>
          <p:nvSpPr>
            <p:cNvPr id="334" name="Google Shape;334;p36"/>
            <p:cNvSpPr txBox="1"/>
            <p:nvPr/>
          </p:nvSpPr>
          <p:spPr>
            <a:xfrm>
              <a:off x="338" y="1680"/>
              <a:ext cx="692" cy="10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28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 43</a:t>
              </a:r>
              <a:endParaRPr/>
            </a:p>
            <a:p>
              <a:pPr indent="0" lvl="0" marL="0" marR="0" rtl="0" algn="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71</a:t>
              </a:r>
              <a:endParaRPr/>
            </a:p>
          </p:txBody>
        </p:sp>
        <p:cxnSp>
          <p:nvCxnSpPr>
            <p:cNvPr id="335" name="Google Shape;335;p36"/>
            <p:cNvCxnSpPr/>
            <p:nvPr/>
          </p:nvCxnSpPr>
          <p:spPr>
            <a:xfrm>
              <a:off x="384" y="2352"/>
              <a:ext cx="57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336" name="Google Shape;336;p36"/>
          <p:cNvSpPr txBox="1"/>
          <p:nvPr/>
        </p:nvSpPr>
        <p:spPr>
          <a:xfrm>
            <a:off x="3276600" y="2211387"/>
            <a:ext cx="373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 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00011100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 00101011</a:t>
            </a:r>
            <a:endParaRPr/>
          </a:p>
        </p:txBody>
      </p:sp>
      <p:cxnSp>
        <p:nvCxnSpPr>
          <p:cNvPr id="337" name="Google Shape;337;p36"/>
          <p:cNvCxnSpPr/>
          <p:nvPr/>
        </p:nvCxnSpPr>
        <p:spPr>
          <a:xfrm>
            <a:off x="4746625" y="3278187"/>
            <a:ext cx="219392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338" name="Google Shape;338;p36"/>
          <p:cNvGrpSpPr/>
          <p:nvPr/>
        </p:nvGrpSpPr>
        <p:grpSpPr>
          <a:xfrm>
            <a:off x="6426200" y="2030412"/>
            <a:ext cx="581025" cy="1865312"/>
            <a:chOff x="3252" y="1182"/>
            <a:chExt cx="366" cy="1175"/>
          </a:xfrm>
        </p:grpSpPr>
        <p:sp>
          <p:nvSpPr>
            <p:cNvPr id="339" name="Google Shape;339;p36"/>
            <p:cNvSpPr txBox="1"/>
            <p:nvPr/>
          </p:nvSpPr>
          <p:spPr>
            <a:xfrm>
              <a:off x="3360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40" name="Google Shape;340;p36"/>
            <p:cNvSpPr txBox="1"/>
            <p:nvPr/>
          </p:nvSpPr>
          <p:spPr>
            <a:xfrm>
              <a:off x="3252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341" name="Google Shape;341;p36"/>
          <p:cNvGrpSpPr/>
          <p:nvPr/>
        </p:nvGrpSpPr>
        <p:grpSpPr>
          <a:xfrm>
            <a:off x="5753100" y="2030412"/>
            <a:ext cx="582612" cy="1865312"/>
            <a:chOff x="2828" y="1182"/>
            <a:chExt cx="367" cy="1175"/>
          </a:xfrm>
        </p:grpSpPr>
        <p:sp>
          <p:nvSpPr>
            <p:cNvPr id="342" name="Google Shape;342;p36"/>
            <p:cNvSpPr txBox="1"/>
            <p:nvPr/>
          </p:nvSpPr>
          <p:spPr>
            <a:xfrm>
              <a:off x="2937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43" name="Google Shape;343;p36"/>
            <p:cNvSpPr txBox="1"/>
            <p:nvPr/>
          </p:nvSpPr>
          <p:spPr>
            <a:xfrm>
              <a:off x="2828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44" name="Google Shape;344;p36"/>
          <p:cNvGrpSpPr/>
          <p:nvPr/>
        </p:nvGrpSpPr>
        <p:grpSpPr>
          <a:xfrm>
            <a:off x="6202362" y="2030412"/>
            <a:ext cx="581025" cy="1865312"/>
            <a:chOff x="3111" y="1182"/>
            <a:chExt cx="366" cy="1175"/>
          </a:xfrm>
        </p:grpSpPr>
        <p:sp>
          <p:nvSpPr>
            <p:cNvPr id="345" name="Google Shape;345;p36"/>
            <p:cNvSpPr txBox="1"/>
            <p:nvPr/>
          </p:nvSpPr>
          <p:spPr>
            <a:xfrm>
              <a:off x="3219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46" name="Google Shape;346;p36"/>
            <p:cNvSpPr txBox="1"/>
            <p:nvPr/>
          </p:nvSpPr>
          <p:spPr>
            <a:xfrm>
              <a:off x="3111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347" name="Google Shape;347;p36"/>
          <p:cNvGrpSpPr/>
          <p:nvPr/>
        </p:nvGrpSpPr>
        <p:grpSpPr>
          <a:xfrm>
            <a:off x="5976937" y="2030412"/>
            <a:ext cx="582612" cy="1865312"/>
            <a:chOff x="2969" y="1182"/>
            <a:chExt cx="367" cy="1175"/>
          </a:xfrm>
        </p:grpSpPr>
        <p:sp>
          <p:nvSpPr>
            <p:cNvPr id="348" name="Google Shape;348;p36"/>
            <p:cNvSpPr txBox="1"/>
            <p:nvPr/>
          </p:nvSpPr>
          <p:spPr>
            <a:xfrm>
              <a:off x="2969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49" name="Google Shape;349;p36"/>
            <p:cNvSpPr txBox="1"/>
            <p:nvPr/>
          </p:nvSpPr>
          <p:spPr>
            <a:xfrm>
              <a:off x="3078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50" name="Google Shape;350;p36"/>
          <p:cNvGrpSpPr/>
          <p:nvPr/>
        </p:nvGrpSpPr>
        <p:grpSpPr>
          <a:xfrm>
            <a:off x="5527675" y="2030412"/>
            <a:ext cx="584200" cy="1865312"/>
            <a:chOff x="2686" y="1182"/>
            <a:chExt cx="368" cy="1175"/>
          </a:xfrm>
        </p:grpSpPr>
        <p:sp>
          <p:nvSpPr>
            <p:cNvPr id="351" name="Google Shape;351;p36"/>
            <p:cNvSpPr txBox="1"/>
            <p:nvPr/>
          </p:nvSpPr>
          <p:spPr>
            <a:xfrm>
              <a:off x="2796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52" name="Google Shape;352;p36"/>
            <p:cNvSpPr txBox="1"/>
            <p:nvPr/>
          </p:nvSpPr>
          <p:spPr>
            <a:xfrm>
              <a:off x="2686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53" name="Google Shape;353;p36"/>
          <p:cNvGrpSpPr/>
          <p:nvPr/>
        </p:nvGrpSpPr>
        <p:grpSpPr>
          <a:xfrm>
            <a:off x="5302250" y="2030412"/>
            <a:ext cx="585787" cy="1865312"/>
            <a:chOff x="2544" y="1182"/>
            <a:chExt cx="369" cy="1175"/>
          </a:xfrm>
        </p:grpSpPr>
        <p:sp>
          <p:nvSpPr>
            <p:cNvPr id="354" name="Google Shape;354;p36"/>
            <p:cNvSpPr txBox="1"/>
            <p:nvPr/>
          </p:nvSpPr>
          <p:spPr>
            <a:xfrm>
              <a:off x="2655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55" name="Google Shape;355;p36"/>
            <p:cNvSpPr txBox="1"/>
            <p:nvPr/>
          </p:nvSpPr>
          <p:spPr>
            <a:xfrm>
              <a:off x="2544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356" name="Google Shape;356;p36"/>
          <p:cNvSpPr txBox="1"/>
          <p:nvPr/>
        </p:nvSpPr>
        <p:spPr>
          <a:xfrm>
            <a:off x="5029200" y="3316287"/>
            <a:ext cx="4095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grpSp>
        <p:nvGrpSpPr>
          <p:cNvPr id="357" name="Google Shape;357;p36"/>
          <p:cNvGrpSpPr/>
          <p:nvPr/>
        </p:nvGrpSpPr>
        <p:grpSpPr>
          <a:xfrm>
            <a:off x="5083175" y="2030412"/>
            <a:ext cx="585787" cy="1865312"/>
            <a:chOff x="2544" y="1182"/>
            <a:chExt cx="369" cy="1175"/>
          </a:xfrm>
        </p:grpSpPr>
        <p:sp>
          <p:nvSpPr>
            <p:cNvPr id="358" name="Google Shape;358;p36"/>
            <p:cNvSpPr txBox="1"/>
            <p:nvPr/>
          </p:nvSpPr>
          <p:spPr>
            <a:xfrm>
              <a:off x="2655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59" name="Google Shape;359;p36"/>
            <p:cNvSpPr txBox="1"/>
            <p:nvPr/>
          </p:nvSpPr>
          <p:spPr>
            <a:xfrm>
              <a:off x="2544" y="11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</a:t>
            </a:r>
            <a:endParaRPr/>
          </a:p>
        </p:txBody>
      </p:sp>
      <p:sp>
        <p:nvSpPr>
          <p:cNvPr id="365" name="Google Shape;365;p3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3(a) Add (101101)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(100111)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6" name="Google Shape;366;p37"/>
          <p:cNvSpPr txBox="1"/>
          <p:nvPr/>
        </p:nvSpPr>
        <p:spPr>
          <a:xfrm>
            <a:off x="493712" y="2286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367" name="Google Shape;367;p37"/>
          <p:cNvSpPr txBox="1"/>
          <p:nvPr/>
        </p:nvSpPr>
        <p:spPr>
          <a:xfrm>
            <a:off x="488950" y="338296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3(a) (1010100)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baseline="-2500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Working:</a:t>
            </a:r>
            <a:b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grpSp>
        <p:nvGrpSpPr>
          <p:cNvPr id="368" name="Google Shape;368;p37"/>
          <p:cNvGrpSpPr/>
          <p:nvPr/>
        </p:nvGrpSpPr>
        <p:grpSpPr>
          <a:xfrm>
            <a:off x="793750" y="5135562"/>
            <a:ext cx="3259137" cy="1570037"/>
            <a:chOff x="261" y="890"/>
            <a:chExt cx="2224" cy="1071"/>
          </a:xfrm>
        </p:grpSpPr>
        <p:sp>
          <p:nvSpPr>
            <p:cNvPr id="369" name="Google Shape;369;p37"/>
            <p:cNvSpPr txBox="1"/>
            <p:nvPr/>
          </p:nvSpPr>
          <p:spPr>
            <a:xfrm>
              <a:off x="467" y="890"/>
              <a:ext cx="1837" cy="10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Augend:    101101</a:t>
              </a:r>
              <a:endParaRPr/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Addend:  +100111</a:t>
              </a:r>
              <a:endParaRPr/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7"/>
            <p:cNvSpPr txBox="1"/>
            <p:nvPr/>
          </p:nvSpPr>
          <p:spPr>
            <a:xfrm>
              <a:off x="453" y="1498"/>
              <a:ext cx="2032" cy="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Sum:        1010100</a:t>
              </a:r>
              <a:endParaRPr/>
            </a:p>
          </p:txBody>
        </p:sp>
        <p:cxnSp>
          <p:nvCxnSpPr>
            <p:cNvPr id="371" name="Google Shape;371;p37"/>
            <p:cNvCxnSpPr/>
            <p:nvPr/>
          </p:nvCxnSpPr>
          <p:spPr>
            <a:xfrm>
              <a:off x="261" y="1468"/>
              <a:ext cx="2004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Addition of base-r</a:t>
            </a:r>
            <a:endParaRPr/>
          </a:p>
        </p:txBody>
      </p:sp>
      <p:sp>
        <p:nvSpPr>
          <p:cNvPr id="377" name="Google Shape;377;p3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(41)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(24)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b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				</a:t>
            </a:r>
            <a:r>
              <a:rPr b="0" i="0" lang="en-US" sz="3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				  (34)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       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(41)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b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+ (24)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b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________________</a:t>
            </a:r>
            <a:b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(2 0 4)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378" name="Google Shape;378;p38"/>
          <p:cNvSpPr txBox="1"/>
          <p:nvPr/>
        </p:nvSpPr>
        <p:spPr>
          <a:xfrm>
            <a:off x="6400800" y="2209800"/>
            <a:ext cx="18288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4+1+4= 9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9%5=4 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9/5=1 (carry)</a:t>
            </a:r>
            <a:endParaRPr/>
          </a:p>
        </p:txBody>
      </p:sp>
      <p:sp>
        <p:nvSpPr>
          <p:cNvPr id="379" name="Google Shape;379;p38"/>
          <p:cNvSpPr txBox="1"/>
          <p:nvPr/>
        </p:nvSpPr>
        <p:spPr>
          <a:xfrm>
            <a:off x="533400" y="2895600"/>
            <a:ext cx="2286000" cy="208438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1+3+4+2= 10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10%5=0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10/5=2 (carry)</a:t>
            </a:r>
            <a:endParaRPr/>
          </a:p>
        </p:txBody>
      </p:sp>
      <p:cxnSp>
        <p:nvCxnSpPr>
          <p:cNvPr id="380" name="Google Shape;380;p38"/>
          <p:cNvCxnSpPr/>
          <p:nvPr/>
        </p:nvCxnSpPr>
        <p:spPr>
          <a:xfrm flipH="1" rot="10800000">
            <a:off x="4800600" y="2895600"/>
            <a:ext cx="1447800" cy="266700"/>
          </a:xfrm>
          <a:prstGeom prst="straightConnector1">
            <a:avLst/>
          </a:prstGeom>
          <a:noFill/>
          <a:ln cap="flat" cmpd="sng" w="9525">
            <a:solidFill>
              <a:srgbClr val="B6DCD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81" name="Google Shape;381;p38"/>
          <p:cNvCxnSpPr/>
          <p:nvPr/>
        </p:nvCxnSpPr>
        <p:spPr>
          <a:xfrm flipH="1">
            <a:off x="2819400" y="3124200"/>
            <a:ext cx="1295400" cy="76200"/>
          </a:xfrm>
          <a:prstGeom prst="straightConnector1">
            <a:avLst/>
          </a:prstGeom>
          <a:noFill/>
          <a:ln cap="flat" cmpd="sng" w="9525">
            <a:solidFill>
              <a:srgbClr val="B6DCD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</a:t>
            </a:r>
            <a:endParaRPr/>
          </a:p>
        </p:txBody>
      </p:sp>
      <p:sp>
        <p:nvSpPr>
          <p:cNvPr id="387" name="Google Shape;387;p3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Try: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(a) (FF)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+(F1)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b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(b) (66)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(55)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9"/>
          <p:cNvSpPr txBox="1"/>
          <p:nvPr/>
        </p:nvSpPr>
        <p:spPr>
          <a:xfrm>
            <a:off x="492125" y="3200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389" name="Google Shape;389;p39"/>
          <p:cNvSpPr txBox="1"/>
          <p:nvPr/>
        </p:nvSpPr>
        <p:spPr>
          <a:xfrm>
            <a:off x="492125" y="452596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2(a) (1F0)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16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2(b) (154)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 Multiplication</a:t>
            </a:r>
            <a:endParaRPr/>
          </a:p>
        </p:txBody>
      </p:sp>
      <p:sp>
        <p:nvSpPr>
          <p:cNvPr id="395" name="Google Shape;395;p40"/>
          <p:cNvSpPr txBox="1"/>
          <p:nvPr>
            <p:ph idx="1" type="body"/>
          </p:nvPr>
        </p:nvSpPr>
        <p:spPr>
          <a:xfrm>
            <a:off x="1182687" y="2017712"/>
            <a:ext cx="7772400" cy="163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multiplication of two binary numbers can be carried out in the same manner as the decimal multiplication.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Unlike decimal multiplication, only two values are generated as the outcome of multiplying the multiplication bit by 0 or 1 in the binary multiplication. These values are either 0 or 1.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binary multiplication can also be considered as repeated binary addition. Therefore, the binary multiplication is performed in conjunction with the binary addition operation.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</a:t>
            </a:r>
            <a:endParaRPr/>
          </a:p>
        </p:txBody>
      </p:sp>
      <p:sp>
        <p:nvSpPr>
          <p:cNvPr id="401" name="Google Shape;401;p4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(a) Multiply 1011 with 101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41"/>
          <p:cNvPicPr preferRelativeResize="0"/>
          <p:nvPr/>
        </p:nvPicPr>
        <p:blipFill rotWithShape="1">
          <a:blip r:embed="rId4">
            <a:alphaModFix/>
          </a:blip>
          <a:srcRect b="4776" l="4852" r="23924" t="34806"/>
          <a:stretch/>
        </p:blipFill>
        <p:spPr>
          <a:xfrm>
            <a:off x="1066800" y="2276475"/>
            <a:ext cx="6251575" cy="40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/>
          <p:cNvSpPr txBox="1"/>
          <p:nvPr>
            <p:ph type="title"/>
          </p:nvPr>
        </p:nvSpPr>
        <p:spPr>
          <a:xfrm>
            <a:off x="382587" y="-9525"/>
            <a:ext cx="82296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 with base-r</a:t>
            </a:r>
            <a:endParaRPr/>
          </a:p>
        </p:txBody>
      </p:sp>
      <p:sp>
        <p:nvSpPr>
          <p:cNvPr id="408" name="Google Shape;408;p42"/>
          <p:cNvSpPr txBox="1"/>
          <p:nvPr>
            <p:ph idx="1" type="body"/>
          </p:nvPr>
        </p:nvSpPr>
        <p:spPr>
          <a:xfrm>
            <a:off x="76200" y="746125"/>
            <a:ext cx="2362200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2A3C 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xB7 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 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127A4 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1D094 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------------ 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1E30E4</a:t>
            </a:r>
            <a:endParaRPr/>
          </a:p>
        </p:txBody>
      </p:sp>
      <p:sp>
        <p:nvSpPr>
          <p:cNvPr id="409" name="Google Shape;409;p42"/>
          <p:cNvSpPr txBox="1"/>
          <p:nvPr>
            <p:ph idx="1" type="body"/>
          </p:nvPr>
        </p:nvSpPr>
        <p:spPr>
          <a:xfrm>
            <a:off x="2133600" y="425450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Working</a:t>
            </a:r>
            <a:endParaRPr/>
          </a:p>
        </p:txBody>
      </p:sp>
      <p:sp>
        <p:nvSpPr>
          <p:cNvPr id="410" name="Google Shape;410;p42"/>
          <p:cNvSpPr txBox="1"/>
          <p:nvPr>
            <p:ph idx="2" type="body"/>
          </p:nvPr>
        </p:nvSpPr>
        <p:spPr>
          <a:xfrm>
            <a:off x="2132012" y="1044575"/>
            <a:ext cx="6858000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7*C = 7*12 = 84 =(write 4, carry 5)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7*3+5 = 26 = 1A (write A, carry 1)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7*A+1 = 71 = 0x47 (write 7, carry 4)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7*2+4 = 18 = 0x12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completes the 7*2A3C = 127A4 partial product.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B*C = 11*12 = 132 = (write 4, carry 8)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B*3+8 = 11*3+8 = 41 = (write 9, carry 2)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B*A+2 = 11*10+2 = 112 = (write 0, carry 7)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B*2+7 = 11*2+7 = 29 = 1D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completes the B[0]*2A3C = 1D094[0] partial product, where I'm noting the [0] digits to remind us this is in the 16s column.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the partial products: 127A4 + 1D0940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4+0 = 4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A+4 = E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7+9 = 16 = 0x10 (write 0, carry 1)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2+0+1 = 3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1+D = E 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= 1 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3"/>
          <p:cNvSpPr txBox="1"/>
          <p:nvPr/>
        </p:nvSpPr>
        <p:spPr>
          <a:xfrm>
            <a:off x="762000" y="1676400"/>
            <a:ext cx="46482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(a) Multiply (34)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(42)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(b) Multiply (25)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(36)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</a:t>
            </a:r>
            <a:endParaRPr/>
          </a:p>
        </p:txBody>
      </p:sp>
      <p:sp>
        <p:nvSpPr>
          <p:cNvPr id="417" name="Google Shape;417;p43"/>
          <p:cNvSpPr txBox="1"/>
          <p:nvPr/>
        </p:nvSpPr>
        <p:spPr>
          <a:xfrm>
            <a:off x="152400" y="25034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418" name="Google Shape;418;p43"/>
          <p:cNvSpPr txBox="1"/>
          <p:nvPr/>
        </p:nvSpPr>
        <p:spPr>
          <a:xfrm>
            <a:off x="838200" y="4210050"/>
            <a:ext cx="15176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(a) (3133)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(b) (1033)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Binary operations: </a:t>
            </a:r>
            <a:b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Subtraction Rules w/Carries</a:t>
            </a:r>
            <a:endParaRPr/>
          </a:p>
        </p:txBody>
      </p:sp>
      <p:sp>
        <p:nvSpPr>
          <p:cNvPr id="424" name="Google Shape;424;p44"/>
          <p:cNvSpPr txBox="1"/>
          <p:nvPr>
            <p:ph idx="1" type="body"/>
          </p:nvPr>
        </p:nvSpPr>
        <p:spPr>
          <a:xfrm>
            <a:off x="473075" y="2438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0 - 0 = 0 0 ( 0 with a 0 carry )</a:t>
            </a:r>
            <a:endParaRPr/>
          </a:p>
          <a:p>
            <a:pPr indent="-273050" lvl="0" marL="342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1 - 1 = 0 0 ( 0 with a 0 carry )</a:t>
            </a:r>
            <a:endParaRPr/>
          </a:p>
          <a:p>
            <a:pPr indent="-273050" lvl="0" marL="342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1 - 0 = 0 1 ( 1 with a 0 carry )</a:t>
            </a:r>
            <a:endParaRPr/>
          </a:p>
          <a:p>
            <a:pPr indent="-273050" lvl="0" marL="342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0 - 1 = ? ( ???)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4"/>
          <p:cNvSpPr txBox="1"/>
          <p:nvPr>
            <p:ph idx="1" type="body"/>
          </p:nvPr>
        </p:nvSpPr>
        <p:spPr>
          <a:xfrm>
            <a:off x="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2 bit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"/>
          <p:cNvSpPr txBox="1"/>
          <p:nvPr/>
        </p:nvSpPr>
        <p:spPr>
          <a:xfrm>
            <a:off x="6556375" y="55118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1" name="Google Shape;431;p4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Subtracting Binary Numbers:</a:t>
            </a:r>
            <a:endParaRPr/>
          </a:p>
        </p:txBody>
      </p:sp>
      <p:grpSp>
        <p:nvGrpSpPr>
          <p:cNvPr id="432" name="Google Shape;432;p45"/>
          <p:cNvGrpSpPr/>
          <p:nvPr/>
        </p:nvGrpSpPr>
        <p:grpSpPr>
          <a:xfrm>
            <a:off x="1831975" y="1849437"/>
            <a:ext cx="1025525" cy="1692275"/>
            <a:chOff x="384" y="1680"/>
            <a:chExt cx="646" cy="1066"/>
          </a:xfrm>
        </p:grpSpPr>
        <p:sp>
          <p:nvSpPr>
            <p:cNvPr id="433" name="Google Shape;433;p45"/>
            <p:cNvSpPr txBox="1"/>
            <p:nvPr/>
          </p:nvSpPr>
          <p:spPr>
            <a:xfrm>
              <a:off x="541" y="1680"/>
              <a:ext cx="489" cy="1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2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 1</a:t>
              </a:r>
              <a:endParaRPr/>
            </a:p>
            <a:p>
              <a:pPr indent="0" lvl="0" marL="0" marR="0" rtl="0" algn="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434" name="Google Shape;434;p45"/>
            <p:cNvCxnSpPr/>
            <p:nvPr/>
          </p:nvCxnSpPr>
          <p:spPr>
            <a:xfrm>
              <a:off x="384" y="2352"/>
              <a:ext cx="57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435" name="Google Shape;435;p45"/>
          <p:cNvSpPr txBox="1"/>
          <p:nvPr/>
        </p:nvSpPr>
        <p:spPr>
          <a:xfrm>
            <a:off x="3130550" y="1851025"/>
            <a:ext cx="373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 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01</a:t>
            </a:r>
            <a:endParaRPr/>
          </a:p>
        </p:txBody>
      </p:sp>
      <p:cxnSp>
        <p:nvCxnSpPr>
          <p:cNvPr id="436" name="Google Shape;436;p45"/>
          <p:cNvCxnSpPr/>
          <p:nvPr/>
        </p:nvCxnSpPr>
        <p:spPr>
          <a:xfrm>
            <a:off x="4600575" y="2917825"/>
            <a:ext cx="219392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437" name="Google Shape;437;p45"/>
          <p:cNvGrpSpPr/>
          <p:nvPr/>
        </p:nvGrpSpPr>
        <p:grpSpPr>
          <a:xfrm>
            <a:off x="6280150" y="1670050"/>
            <a:ext cx="581025" cy="1865312"/>
            <a:chOff x="3252" y="1182"/>
            <a:chExt cx="366" cy="1175"/>
          </a:xfrm>
        </p:grpSpPr>
        <p:sp>
          <p:nvSpPr>
            <p:cNvPr id="438" name="Google Shape;438;p45"/>
            <p:cNvSpPr txBox="1"/>
            <p:nvPr/>
          </p:nvSpPr>
          <p:spPr>
            <a:xfrm>
              <a:off x="3360" y="1992"/>
              <a:ext cx="258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439" name="Google Shape;439;p45"/>
            <p:cNvSpPr txBox="1"/>
            <p:nvPr/>
          </p:nvSpPr>
          <p:spPr>
            <a:xfrm>
              <a:off x="3252" y="1182"/>
              <a:ext cx="11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0" name="Google Shape;440;p45"/>
          <p:cNvGrpSpPr/>
          <p:nvPr/>
        </p:nvGrpSpPr>
        <p:grpSpPr>
          <a:xfrm>
            <a:off x="5586412" y="1670050"/>
            <a:ext cx="377825" cy="1870075"/>
            <a:chOff x="2815" y="1182"/>
            <a:chExt cx="238" cy="1178"/>
          </a:xfrm>
        </p:grpSpPr>
        <p:sp>
          <p:nvSpPr>
            <p:cNvPr id="441" name="Google Shape;441;p45"/>
            <p:cNvSpPr txBox="1"/>
            <p:nvPr/>
          </p:nvSpPr>
          <p:spPr>
            <a:xfrm>
              <a:off x="2937" y="1992"/>
              <a:ext cx="116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5"/>
            <p:cNvSpPr txBox="1"/>
            <p:nvPr/>
          </p:nvSpPr>
          <p:spPr>
            <a:xfrm>
              <a:off x="2815" y="1182"/>
              <a:ext cx="12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3" name="Google Shape;443;p45"/>
          <p:cNvGrpSpPr/>
          <p:nvPr/>
        </p:nvGrpSpPr>
        <p:grpSpPr>
          <a:xfrm>
            <a:off x="6227762" y="1682750"/>
            <a:ext cx="412750" cy="1857375"/>
            <a:chOff x="3219" y="1190"/>
            <a:chExt cx="260" cy="1170"/>
          </a:xfrm>
        </p:grpSpPr>
        <p:sp>
          <p:nvSpPr>
            <p:cNvPr id="444" name="Google Shape;444;p45"/>
            <p:cNvSpPr txBox="1"/>
            <p:nvPr/>
          </p:nvSpPr>
          <p:spPr>
            <a:xfrm>
              <a:off x="3219" y="1992"/>
              <a:ext cx="260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445" name="Google Shape;445;p45"/>
            <p:cNvSpPr txBox="1"/>
            <p:nvPr/>
          </p:nvSpPr>
          <p:spPr>
            <a:xfrm>
              <a:off x="3249" y="119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446" name="Google Shape;446;p45"/>
          <p:cNvGrpSpPr/>
          <p:nvPr/>
        </p:nvGrpSpPr>
        <p:grpSpPr>
          <a:xfrm>
            <a:off x="5830887" y="1670050"/>
            <a:ext cx="357187" cy="1870075"/>
            <a:chOff x="2969" y="1182"/>
            <a:chExt cx="225" cy="1178"/>
          </a:xfrm>
        </p:grpSpPr>
        <p:sp>
          <p:nvSpPr>
            <p:cNvPr id="447" name="Google Shape;447;p45"/>
            <p:cNvSpPr txBox="1"/>
            <p:nvPr/>
          </p:nvSpPr>
          <p:spPr>
            <a:xfrm>
              <a:off x="2969" y="1182"/>
              <a:ext cx="11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5"/>
            <p:cNvSpPr txBox="1"/>
            <p:nvPr/>
          </p:nvSpPr>
          <p:spPr>
            <a:xfrm>
              <a:off x="3078" y="1992"/>
              <a:ext cx="116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" name="Google Shape;449;p45"/>
          <p:cNvGrpSpPr/>
          <p:nvPr/>
        </p:nvGrpSpPr>
        <p:grpSpPr>
          <a:xfrm>
            <a:off x="5381625" y="1670050"/>
            <a:ext cx="358775" cy="1870075"/>
            <a:chOff x="2686" y="1182"/>
            <a:chExt cx="226" cy="1178"/>
          </a:xfrm>
        </p:grpSpPr>
        <p:sp>
          <p:nvSpPr>
            <p:cNvPr id="450" name="Google Shape;450;p45"/>
            <p:cNvSpPr txBox="1"/>
            <p:nvPr/>
          </p:nvSpPr>
          <p:spPr>
            <a:xfrm>
              <a:off x="2796" y="1992"/>
              <a:ext cx="116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5"/>
            <p:cNvSpPr txBox="1"/>
            <p:nvPr/>
          </p:nvSpPr>
          <p:spPr>
            <a:xfrm>
              <a:off x="2686" y="1182"/>
              <a:ext cx="11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2" name="Google Shape;452;p45"/>
          <p:cNvGrpSpPr/>
          <p:nvPr/>
        </p:nvGrpSpPr>
        <p:grpSpPr>
          <a:xfrm>
            <a:off x="4937125" y="1670050"/>
            <a:ext cx="360362" cy="1870075"/>
            <a:chOff x="2544" y="1182"/>
            <a:chExt cx="227" cy="1178"/>
          </a:xfrm>
        </p:grpSpPr>
        <p:sp>
          <p:nvSpPr>
            <p:cNvPr id="453" name="Google Shape;453;p45"/>
            <p:cNvSpPr txBox="1"/>
            <p:nvPr/>
          </p:nvSpPr>
          <p:spPr>
            <a:xfrm>
              <a:off x="2655" y="1992"/>
              <a:ext cx="116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5"/>
            <p:cNvSpPr txBox="1"/>
            <p:nvPr/>
          </p:nvSpPr>
          <p:spPr>
            <a:xfrm>
              <a:off x="2544" y="1182"/>
              <a:ext cx="11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5" name="Google Shape;455;p45"/>
          <p:cNvSpPr txBox="1"/>
          <p:nvPr/>
        </p:nvSpPr>
        <p:spPr>
          <a:xfrm>
            <a:off x="6496050" y="1439862"/>
            <a:ext cx="3127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456" name="Google Shape;456;p45"/>
          <p:cNvCxnSpPr/>
          <p:nvPr/>
        </p:nvCxnSpPr>
        <p:spPr>
          <a:xfrm>
            <a:off x="6592887" y="2544762"/>
            <a:ext cx="182562" cy="185737"/>
          </a:xfrm>
          <a:prstGeom prst="straightConnector1">
            <a:avLst/>
          </a:prstGeom>
          <a:noFill/>
          <a:ln cap="flat" cmpd="sng" w="38100">
            <a:solidFill>
              <a:srgbClr val="3C8C93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57" name="Google Shape;457;p45"/>
          <p:cNvCxnSpPr/>
          <p:nvPr/>
        </p:nvCxnSpPr>
        <p:spPr>
          <a:xfrm>
            <a:off x="6281737" y="2028825"/>
            <a:ext cx="258762" cy="21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458" name="Google Shape;458;p45"/>
          <p:cNvGrpSpPr/>
          <p:nvPr/>
        </p:nvGrpSpPr>
        <p:grpSpPr>
          <a:xfrm>
            <a:off x="1854200" y="4019550"/>
            <a:ext cx="1025525" cy="1692275"/>
            <a:chOff x="384" y="1680"/>
            <a:chExt cx="646" cy="1066"/>
          </a:xfrm>
        </p:grpSpPr>
        <p:sp>
          <p:nvSpPr>
            <p:cNvPr id="459" name="Google Shape;459;p45"/>
            <p:cNvSpPr txBox="1"/>
            <p:nvPr/>
          </p:nvSpPr>
          <p:spPr>
            <a:xfrm>
              <a:off x="541" y="1680"/>
              <a:ext cx="489" cy="10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4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 1</a:t>
              </a:r>
              <a:endParaRPr/>
            </a:p>
            <a:p>
              <a:pPr indent="0" lvl="0" marL="0" marR="0" rtl="0" algn="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cxnSp>
          <p:nvCxnSpPr>
            <p:cNvPr id="460" name="Google Shape;460;p45"/>
            <p:cNvCxnSpPr/>
            <p:nvPr/>
          </p:nvCxnSpPr>
          <p:spPr>
            <a:xfrm>
              <a:off x="384" y="2352"/>
              <a:ext cx="576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461" name="Google Shape;461;p45"/>
          <p:cNvSpPr txBox="1"/>
          <p:nvPr/>
        </p:nvSpPr>
        <p:spPr>
          <a:xfrm>
            <a:off x="3152775" y="4021137"/>
            <a:ext cx="373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 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b="0" i="0" lang="en-US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001</a:t>
            </a:r>
            <a:endParaRPr/>
          </a:p>
        </p:txBody>
      </p:sp>
      <p:cxnSp>
        <p:nvCxnSpPr>
          <p:cNvPr id="462" name="Google Shape;462;p45"/>
          <p:cNvCxnSpPr/>
          <p:nvPr/>
        </p:nvCxnSpPr>
        <p:spPr>
          <a:xfrm>
            <a:off x="4622800" y="5087937"/>
            <a:ext cx="219392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63" name="Google Shape;463;p45"/>
          <p:cNvSpPr txBox="1"/>
          <p:nvPr/>
        </p:nvSpPr>
        <p:spPr>
          <a:xfrm>
            <a:off x="6473825" y="5126037"/>
            <a:ext cx="4095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grpSp>
        <p:nvGrpSpPr>
          <p:cNvPr id="464" name="Google Shape;464;p45"/>
          <p:cNvGrpSpPr/>
          <p:nvPr/>
        </p:nvGrpSpPr>
        <p:grpSpPr>
          <a:xfrm>
            <a:off x="5608637" y="3840162"/>
            <a:ext cx="377825" cy="1870075"/>
            <a:chOff x="2815" y="1182"/>
            <a:chExt cx="238" cy="1178"/>
          </a:xfrm>
        </p:grpSpPr>
        <p:sp>
          <p:nvSpPr>
            <p:cNvPr id="465" name="Google Shape;465;p45"/>
            <p:cNvSpPr txBox="1"/>
            <p:nvPr/>
          </p:nvSpPr>
          <p:spPr>
            <a:xfrm>
              <a:off x="2937" y="1992"/>
              <a:ext cx="116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5"/>
            <p:cNvSpPr txBox="1"/>
            <p:nvPr/>
          </p:nvSpPr>
          <p:spPr>
            <a:xfrm>
              <a:off x="2815" y="1182"/>
              <a:ext cx="12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7" name="Google Shape;467;p45"/>
          <p:cNvSpPr txBox="1"/>
          <p:nvPr/>
        </p:nvSpPr>
        <p:spPr>
          <a:xfrm>
            <a:off x="6249987" y="5126037"/>
            <a:ext cx="4095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grpSp>
        <p:nvGrpSpPr>
          <p:cNvPr id="468" name="Google Shape;468;p45"/>
          <p:cNvGrpSpPr/>
          <p:nvPr/>
        </p:nvGrpSpPr>
        <p:grpSpPr>
          <a:xfrm>
            <a:off x="5853112" y="3840162"/>
            <a:ext cx="585787" cy="1870075"/>
            <a:chOff x="2969" y="1182"/>
            <a:chExt cx="369" cy="1178"/>
          </a:xfrm>
        </p:grpSpPr>
        <p:sp>
          <p:nvSpPr>
            <p:cNvPr id="469" name="Google Shape;469;p45"/>
            <p:cNvSpPr txBox="1"/>
            <p:nvPr/>
          </p:nvSpPr>
          <p:spPr>
            <a:xfrm>
              <a:off x="2969" y="1182"/>
              <a:ext cx="11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5"/>
            <p:cNvSpPr txBox="1"/>
            <p:nvPr/>
          </p:nvSpPr>
          <p:spPr>
            <a:xfrm>
              <a:off x="3078" y="1992"/>
              <a:ext cx="260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b="0" i="0" lang="en-US" sz="3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471" name="Google Shape;471;p45"/>
          <p:cNvGrpSpPr/>
          <p:nvPr/>
        </p:nvGrpSpPr>
        <p:grpSpPr>
          <a:xfrm>
            <a:off x="5403850" y="3840162"/>
            <a:ext cx="358775" cy="1870075"/>
            <a:chOff x="2686" y="1182"/>
            <a:chExt cx="226" cy="1178"/>
          </a:xfrm>
        </p:grpSpPr>
        <p:sp>
          <p:nvSpPr>
            <p:cNvPr id="472" name="Google Shape;472;p45"/>
            <p:cNvSpPr txBox="1"/>
            <p:nvPr/>
          </p:nvSpPr>
          <p:spPr>
            <a:xfrm>
              <a:off x="2796" y="1992"/>
              <a:ext cx="116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5"/>
            <p:cNvSpPr txBox="1"/>
            <p:nvPr/>
          </p:nvSpPr>
          <p:spPr>
            <a:xfrm>
              <a:off x="2686" y="1182"/>
              <a:ext cx="11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45"/>
          <p:cNvGrpSpPr/>
          <p:nvPr/>
        </p:nvGrpSpPr>
        <p:grpSpPr>
          <a:xfrm>
            <a:off x="4959350" y="3840162"/>
            <a:ext cx="360362" cy="1870075"/>
            <a:chOff x="2544" y="1182"/>
            <a:chExt cx="227" cy="1178"/>
          </a:xfrm>
        </p:grpSpPr>
        <p:sp>
          <p:nvSpPr>
            <p:cNvPr id="475" name="Google Shape;475;p45"/>
            <p:cNvSpPr txBox="1"/>
            <p:nvPr/>
          </p:nvSpPr>
          <p:spPr>
            <a:xfrm>
              <a:off x="2655" y="1992"/>
              <a:ext cx="116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5"/>
            <p:cNvSpPr txBox="1"/>
            <p:nvPr/>
          </p:nvSpPr>
          <p:spPr>
            <a:xfrm>
              <a:off x="2544" y="1182"/>
              <a:ext cx="11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6"/>
          <p:cNvSpPr txBox="1"/>
          <p:nvPr>
            <p:ph type="title"/>
          </p:nvPr>
        </p:nvSpPr>
        <p:spPr>
          <a:xfrm>
            <a:off x="457200" y="984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</a:t>
            </a:r>
            <a:endParaRPr/>
          </a:p>
        </p:txBody>
      </p:sp>
      <p:sp>
        <p:nvSpPr>
          <p:cNvPr id="482" name="Google Shape;482;p46"/>
          <p:cNvSpPr txBox="1"/>
          <p:nvPr>
            <p:ph idx="1" type="body"/>
          </p:nvPr>
        </p:nvSpPr>
        <p:spPr>
          <a:xfrm>
            <a:off x="457200" y="109061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5(b) Subtract (100111)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(101101)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/>
          </a:p>
        </p:txBody>
      </p:sp>
      <p:sp>
        <p:nvSpPr>
          <p:cNvPr id="483" name="Google Shape;483;p46"/>
          <p:cNvSpPr txBox="1"/>
          <p:nvPr/>
        </p:nvSpPr>
        <p:spPr>
          <a:xfrm>
            <a:off x="363537" y="165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484" name="Google Shape;484;p46"/>
          <p:cNvSpPr txBox="1"/>
          <p:nvPr/>
        </p:nvSpPr>
        <p:spPr>
          <a:xfrm>
            <a:off x="493712" y="27813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(b) (000110)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baseline="-2500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Working: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baseline="-2500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5" name="Google Shape;485;p46"/>
          <p:cNvGrpSpPr/>
          <p:nvPr/>
        </p:nvGrpSpPr>
        <p:grpSpPr>
          <a:xfrm>
            <a:off x="460375" y="4621212"/>
            <a:ext cx="3586162" cy="1992312"/>
            <a:chOff x="2192" y="550"/>
            <a:chExt cx="2448" cy="1360"/>
          </a:xfrm>
        </p:grpSpPr>
        <p:sp>
          <p:nvSpPr>
            <p:cNvPr id="486" name="Google Shape;486;p46"/>
            <p:cNvSpPr txBox="1"/>
            <p:nvPr/>
          </p:nvSpPr>
          <p:spPr>
            <a:xfrm>
              <a:off x="2192" y="550"/>
              <a:ext cx="2219" cy="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1" i="0" lang="en-US" sz="2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5(b)Subtraction</a:t>
              </a:r>
              <a:endParaRPr/>
            </a:p>
          </p:txBody>
        </p:sp>
        <p:sp>
          <p:nvSpPr>
            <p:cNvPr id="487" name="Google Shape;487;p46"/>
            <p:cNvSpPr txBox="1"/>
            <p:nvPr/>
          </p:nvSpPr>
          <p:spPr>
            <a:xfrm>
              <a:off x="2382" y="839"/>
              <a:ext cx="2258" cy="10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Minuend:         101101</a:t>
              </a:r>
              <a:endParaRPr/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Subtrahend:  −100111</a:t>
              </a:r>
              <a:endParaRPr/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6"/>
            <p:cNvSpPr txBox="1"/>
            <p:nvPr/>
          </p:nvSpPr>
          <p:spPr>
            <a:xfrm>
              <a:off x="2372" y="1457"/>
              <a:ext cx="2177" cy="2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Difference:       000110</a:t>
              </a:r>
              <a:endParaRPr/>
            </a:p>
          </p:txBody>
        </p:sp>
        <p:cxnSp>
          <p:nvCxnSpPr>
            <p:cNvPr id="489" name="Google Shape;489;p46"/>
            <p:cNvCxnSpPr/>
            <p:nvPr/>
          </p:nvCxnSpPr>
          <p:spPr>
            <a:xfrm>
              <a:off x="2213" y="1434"/>
              <a:ext cx="1996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Subtraction of Base-r</a:t>
            </a:r>
            <a:endParaRPr/>
          </a:p>
        </p:txBody>
      </p:sp>
      <p:sp>
        <p:nvSpPr>
          <p:cNvPr id="495" name="Google Shape;495;p47"/>
          <p:cNvSpPr txBox="1"/>
          <p:nvPr>
            <p:ph idx="4294967295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3   16</a:t>
            </a:r>
            <a:b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-US" sz="2800" u="none" cap="none" strike="sng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6)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-(1 B 3)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______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(2 F 3)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7"/>
          <p:cNvSpPr txBox="1"/>
          <p:nvPr>
            <p:ph idx="1" type="body"/>
          </p:nvPr>
        </p:nvSpPr>
        <p:spPr>
          <a:xfrm>
            <a:off x="4648200" y="1600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4 6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(54)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b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 (35)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b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_____________</a:t>
            </a:r>
            <a:b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(15)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cxnSp>
        <p:nvCxnSpPr>
          <p:cNvPr id="497" name="Google Shape;497;p47"/>
          <p:cNvCxnSpPr/>
          <p:nvPr/>
        </p:nvCxnSpPr>
        <p:spPr>
          <a:xfrm>
            <a:off x="838200" y="2514600"/>
            <a:ext cx="304800" cy="228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498" name="Google Shape;498;p47"/>
          <p:cNvCxnSpPr/>
          <p:nvPr/>
        </p:nvCxnSpPr>
        <p:spPr>
          <a:xfrm>
            <a:off x="5105400" y="2659062"/>
            <a:ext cx="228600" cy="228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Exercise</a:t>
            </a:r>
            <a:endParaRPr/>
          </a:p>
        </p:txBody>
      </p:sp>
      <p:sp>
        <p:nvSpPr>
          <p:cNvPr id="504" name="Google Shape;504;p4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(a) (71)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-(56)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baseline="-2500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4(b) (21)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-(12)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8"/>
          <p:cNvSpPr txBox="1"/>
          <p:nvPr/>
        </p:nvSpPr>
        <p:spPr>
          <a:xfrm>
            <a:off x="609600" y="3124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506" name="Google Shape;506;p48"/>
          <p:cNvSpPr txBox="1"/>
          <p:nvPr/>
        </p:nvSpPr>
        <p:spPr>
          <a:xfrm>
            <a:off x="609600" y="444976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a) (13)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b) (2)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