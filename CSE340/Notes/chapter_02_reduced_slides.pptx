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5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</p:sldIdLst>
  <p:sldSz cy="6858000" cx="9144000"/>
  <p:notesSz cx="7099300" cy="10234600"/>
  <p:embeddedFontLst>
    <p:embeddedFont>
      <p:font typeface="Corbel"/>
      <p:regular r:id="rId59"/>
      <p:bold r:id="rId60"/>
      <p:italic r:id="rId61"/>
      <p:boldItalic r:id="rId62"/>
    </p:embeddedFont>
    <p:embeddedFont>
      <p:font typeface="Tahoma"/>
      <p:regular r:id="rId63"/>
      <p:bold r:id="rId64"/>
    </p:embeddedFont>
    <p:embeddedFont>
      <p:font typeface="Arial Black"/>
      <p:regular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66" roundtripDataSignature="AMtx7mie/AYA2yRDXZAes+gUZY+T4p/i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72234C-E4BD-48CD-B476-A370AC816E52}">
  <a:tblStyle styleId="{D472234C-E4BD-48CD-B476-A370AC816E5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Corbel-boldItalic.fntdata"/><Relationship Id="rId61" Type="http://schemas.openxmlformats.org/officeDocument/2006/relationships/font" Target="fonts/Corbel-italic.fntdata"/><Relationship Id="rId20" Type="http://schemas.openxmlformats.org/officeDocument/2006/relationships/slide" Target="slides/slide13.xml"/><Relationship Id="rId64" Type="http://schemas.openxmlformats.org/officeDocument/2006/relationships/font" Target="fonts/Tahoma-bold.fntdata"/><Relationship Id="rId63" Type="http://schemas.openxmlformats.org/officeDocument/2006/relationships/font" Target="fonts/Tahoma-regular.fntdata"/><Relationship Id="rId22" Type="http://schemas.openxmlformats.org/officeDocument/2006/relationships/slide" Target="slides/slide15.xml"/><Relationship Id="rId66" Type="http://customschemas.google.com/relationships/presentationmetadata" Target="metadata"/><Relationship Id="rId21" Type="http://schemas.openxmlformats.org/officeDocument/2006/relationships/slide" Target="slides/slide14.xml"/><Relationship Id="rId65" Type="http://schemas.openxmlformats.org/officeDocument/2006/relationships/font" Target="fonts/ArialBlack-regular.fnt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60" Type="http://schemas.openxmlformats.org/officeDocument/2006/relationships/font" Target="fonts/Corbel-bold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font" Target="fonts/Corbel-regular.fntdata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81" name="Google Shape;81;p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82" name="Google Shape;82;p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83" name="Google Shape;83;p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91" name="Google Shape;91;p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92" name="Google Shape;92;p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93" name="Google Shape;93;p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03" name="Google Shape;103;p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04" name="Google Shape;104;p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05" name="Google Shape;105;p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14" name="Google Shape;114;p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15" name="Google Shape;115;p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16" name="Google Shape;116;p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26" name="Google Shape;126;p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27" name="Google Shape;127;p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28" name="Google Shape;128;p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37" name="Google Shape;137;p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38" name="Google Shape;138;p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39" name="Google Shape;139;p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56" name="Google Shape;156;p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57" name="Google Shape;157;p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58" name="Google Shape;158;p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67" name="Google Shape;167;p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68" name="Google Shape;168;p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69" name="Google Shape;169;p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70" name="Google Shape;170;p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78" name="Google Shape;178;p1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79" name="Google Shape;179;p1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80" name="Google Shape;180;p1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81" name="Google Shape;181;p1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89" name="Google Shape;189;p1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90" name="Google Shape;190;p1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91" name="Google Shape;191;p1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1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200" name="Google Shape;200;p1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01" name="Google Shape;201;p1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202" name="Google Shape;202;p1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03" name="Google Shape;203;p1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1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211" name="Google Shape;211;p1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12" name="Google Shape;212;p1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213" name="Google Shape;213;p1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14" name="Google Shape;214;p1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1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222" name="Google Shape;222;p1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23" name="Google Shape;223;p1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224" name="Google Shape;224;p1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25" name="Google Shape;225;p1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1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234" name="Google Shape;234;p2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35" name="Google Shape;235;p2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236" name="Google Shape;236;p2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37" name="Google Shape;237;p2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2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258" name="Google Shape;258;p2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59" name="Google Shape;259;p2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260" name="Google Shape;260;p2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61" name="Google Shape;261;p2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2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295" name="Google Shape;295;p2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96" name="Google Shape;296;p2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297" name="Google Shape;297;p2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98" name="Google Shape;298;p2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p2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317" name="Google Shape;317;p2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318" name="Google Shape;318;p2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319" name="Google Shape;319;p2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20" name="Google Shape;320;p2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p2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343" name="Google Shape;343;p2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344" name="Google Shape;344;p2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345" name="Google Shape;345;p2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46" name="Google Shape;346;p2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7" name="Google Shape;347;p2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356" name="Google Shape;356;p2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357" name="Google Shape;357;p2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358" name="Google Shape;358;p2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59" name="Google Shape;359;p2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0" name="Google Shape;360;p2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370" name="Google Shape;370;p2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371" name="Google Shape;371;p2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372" name="Google Shape;372;p2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73" name="Google Shape;373;p2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4" name="Google Shape;374;p2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393" name="Google Shape;393;p2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394" name="Google Shape;394;p2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395" name="Google Shape;395;p2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96" name="Google Shape;396;p2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7" name="Google Shape;397;p2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411" name="Google Shape;411;p2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412" name="Google Shape;412;p2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413" name="Google Shape;413;p2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14" name="Google Shape;414;p2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5" name="Google Shape;415;p2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429" name="Google Shape;429;p2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430" name="Google Shape;430;p2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431" name="Google Shape;431;p2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32" name="Google Shape;432;p2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3" name="Google Shape;433;p2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447" name="Google Shape;447;p3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448" name="Google Shape;448;p3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449" name="Google Shape;449;p3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50" name="Google Shape;450;p3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1" name="Google Shape;451;p3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459" name="Google Shape;459;p3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460" name="Google Shape;460;p3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461" name="Google Shape;461;p3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62" name="Google Shape;462;p3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3" name="Google Shape;463;p3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472" name="Google Shape;472;p3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473" name="Google Shape;473;p3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474" name="Google Shape;474;p3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75" name="Google Shape;475;p3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6" name="Google Shape;476;p3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483" name="Google Shape;483;p3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484" name="Google Shape;484;p3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485" name="Google Shape;485;p3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86" name="Google Shape;486;p3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7" name="Google Shape;487;p3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512" name="Google Shape;512;p3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513" name="Google Shape;513;p3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514" name="Google Shape;514;p3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15" name="Google Shape;515;p3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6" name="Google Shape;516;p3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523" name="Google Shape;523;p3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524" name="Google Shape;524;p3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525" name="Google Shape;525;p3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26" name="Google Shape;526;p3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7" name="Google Shape;527;p3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534" name="Google Shape;534;p3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535" name="Google Shape;535;p3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536" name="Google Shape;536;p3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37" name="Google Shape;537;p3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8" name="Google Shape;538;p3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546" name="Google Shape;546;p3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547" name="Google Shape;547;p3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548" name="Google Shape;548;p3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49" name="Google Shape;549;p3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0" name="Google Shape;550;p3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557" name="Google Shape;557;p3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558" name="Google Shape;558;p3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559" name="Google Shape;559;p3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60" name="Google Shape;560;p3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1" name="Google Shape;561;p3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568" name="Google Shape;568;p3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569" name="Google Shape;569;p3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570" name="Google Shape;570;p3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71" name="Google Shape;571;p3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2" name="Google Shape;572;p3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4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600" name="Google Shape;600;p4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601" name="Google Shape;601;p4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602" name="Google Shape;602;p4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03" name="Google Shape;603;p4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4" name="Google Shape;604;p4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612" name="Google Shape;612;p4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613" name="Google Shape;613;p4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614" name="Google Shape;614;p4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15" name="Google Shape;615;p4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6" name="Google Shape;616;p4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624" name="Google Shape;624;p4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625" name="Google Shape;625;p4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626" name="Google Shape;626;p4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27" name="Google Shape;627;p4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8" name="Google Shape;628;p4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4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636" name="Google Shape;636;p4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637" name="Google Shape;637;p4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638" name="Google Shape;638;p4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39" name="Google Shape;639;p4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0" name="Google Shape;640;p4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5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647" name="Google Shape;647;p5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648" name="Google Shape;648;p5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649" name="Google Shape;649;p5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50" name="Google Shape;650;p5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1" name="Google Shape;651;p5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5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669" name="Google Shape;669;p5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670" name="Google Shape;670;p5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671" name="Google Shape;671;p5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72" name="Google Shape;672;p5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3" name="Google Shape;673;p5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5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695" name="Google Shape;695;p5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696" name="Google Shape;696;p5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697" name="Google Shape;697;p5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98" name="Google Shape;698;p5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9" name="Google Shape;699;p5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5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5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5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5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735" name="Google Shape;735;p5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736" name="Google Shape;736;p5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737" name="Google Shape;737;p5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38" name="Google Shape;738;p5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9" name="Google Shape;739;p5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5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747" name="Google Shape;747;p5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748" name="Google Shape;748;p5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749" name="Google Shape;749;p5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50" name="Google Shape;750;p5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1" name="Google Shape;751;p5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1:notes"/>
          <p:cNvSpPr txBox="1"/>
          <p:nvPr/>
        </p:nvSpPr>
        <p:spPr>
          <a:xfrm>
            <a:off x="0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758" name="Google Shape;758;p61:notes"/>
          <p:cNvSpPr txBox="1"/>
          <p:nvPr/>
        </p:nvSpPr>
        <p:spPr>
          <a:xfrm>
            <a:off x="4022725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759" name="Google Shape;759;p61:notes"/>
          <p:cNvSpPr txBox="1"/>
          <p:nvPr/>
        </p:nvSpPr>
        <p:spPr>
          <a:xfrm>
            <a:off x="0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760" name="Google Shape;760;p61:notes"/>
          <p:cNvSpPr txBox="1"/>
          <p:nvPr/>
        </p:nvSpPr>
        <p:spPr>
          <a:xfrm>
            <a:off x="4022725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61" name="Google Shape;761;p61:notes"/>
          <p:cNvSpPr/>
          <p:nvPr>
            <p:ph idx="2" type="sldImg"/>
          </p:nvPr>
        </p:nvSpPr>
        <p:spPr>
          <a:xfrm>
            <a:off x="990600" y="768350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2" name="Google Shape;762;p61:notes"/>
          <p:cNvSpPr txBox="1"/>
          <p:nvPr>
            <p:ph idx="1" type="body"/>
          </p:nvPr>
        </p:nvSpPr>
        <p:spPr>
          <a:xfrm>
            <a:off x="946150" y="4862512"/>
            <a:ext cx="52071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769" name="Google Shape;769;p6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770" name="Google Shape;770;p6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771" name="Google Shape;771;p6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72" name="Google Shape;772;p6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3" name="Google Shape;773;p6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781" name="Google Shape;781;p6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782" name="Google Shape;782;p6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783" name="Google Shape;783;p6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84" name="Google Shape;784;p6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5" name="Google Shape;785;p6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7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792" name="Google Shape;792;p7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793" name="Google Shape;793;p7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794" name="Google Shape;794;p7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95" name="Google Shape;795;p7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6" name="Google Shape;796;p7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4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4"/>
          <p:cNvSpPr txBox="1"/>
          <p:nvPr>
            <p:ph idx="1" type="subTitle"/>
          </p:nvPr>
        </p:nvSpPr>
        <p:spPr>
          <a:xfrm>
            <a:off x="2409825" y="2924175"/>
            <a:ext cx="5832475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9" name="Google Shape;39;p76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7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8"/>
          <p:cNvSpPr txBox="1"/>
          <p:nvPr>
            <p:ph type="title"/>
          </p:nvPr>
        </p:nvSpPr>
        <p:spPr>
          <a:xfrm rot="5400000">
            <a:off x="4876007" y="2158206"/>
            <a:ext cx="6091238" cy="2066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8"/>
          <p:cNvSpPr txBox="1"/>
          <p:nvPr>
            <p:ph idx="1" type="body"/>
          </p:nvPr>
        </p:nvSpPr>
        <p:spPr>
          <a:xfrm rot="5400000">
            <a:off x="664369" y="165894"/>
            <a:ext cx="6091238" cy="605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6" name="Google Shape;46;p78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9"/>
          <p:cNvSpPr txBox="1"/>
          <p:nvPr>
            <p:ph idx="1" type="body"/>
          </p:nvPr>
        </p:nvSpPr>
        <p:spPr>
          <a:xfrm rot="5400000">
            <a:off x="2263774" y="-454025"/>
            <a:ext cx="5111750" cy="827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" name="Google Shape;50;p79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8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55" name="Google Shape;55;p80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59" name="Google Shape;59;p8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60" name="Google Shape;60;p81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2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6" name="Google Shape;66;p8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7" name="Google Shape;67;p8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8" name="Google Shape;68;p8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9" name="Google Shape;69;p8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4"/>
          <p:cNvSpPr txBox="1"/>
          <p:nvPr>
            <p:ph idx="1" type="body"/>
          </p:nvPr>
        </p:nvSpPr>
        <p:spPr>
          <a:xfrm>
            <a:off x="684213" y="1125538"/>
            <a:ext cx="405923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3" name="Google Shape;73;p84"/>
          <p:cNvSpPr txBox="1"/>
          <p:nvPr>
            <p:ph idx="2" type="body"/>
          </p:nvPr>
        </p:nvSpPr>
        <p:spPr>
          <a:xfrm>
            <a:off x="4895850" y="1125538"/>
            <a:ext cx="4059238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4" name="Google Shape;74;p84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8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78" name="Google Shape;78;p85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3"/>
          <p:cNvSpPr txBox="1"/>
          <p:nvPr/>
        </p:nvSpPr>
        <p:spPr>
          <a:xfrm>
            <a:off x="0" y="0"/>
            <a:ext cx="9144000" cy="112553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73"/>
          <p:cNvSpPr txBox="1"/>
          <p:nvPr/>
        </p:nvSpPr>
        <p:spPr>
          <a:xfrm>
            <a:off x="1619250" y="1125537"/>
            <a:ext cx="28575" cy="573246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73"/>
          <p:cNvSpPr txBox="1"/>
          <p:nvPr/>
        </p:nvSpPr>
        <p:spPr>
          <a:xfrm>
            <a:off x="1981200" y="19875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73"/>
          <p:cNvSpPr txBox="1"/>
          <p:nvPr/>
        </p:nvSpPr>
        <p:spPr>
          <a:xfrm>
            <a:off x="1763712" y="2708275"/>
            <a:ext cx="7380287" cy="73025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73"/>
          <p:cNvSpPr txBox="1"/>
          <p:nvPr/>
        </p:nvSpPr>
        <p:spPr>
          <a:xfrm>
            <a:off x="0" y="1125537"/>
            <a:ext cx="9144000" cy="174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73"/>
          <p:cNvSpPr txBox="1"/>
          <p:nvPr/>
        </p:nvSpPr>
        <p:spPr>
          <a:xfrm>
            <a:off x="1619250" y="549275"/>
            <a:ext cx="28575" cy="576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 (2).png" id="16" name="Google Shape;16;p7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50825" y="261937"/>
            <a:ext cx="1155700" cy="647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73"/>
          <p:cNvGrpSpPr/>
          <p:nvPr/>
        </p:nvGrpSpPr>
        <p:grpSpPr>
          <a:xfrm>
            <a:off x="1774825" y="104775"/>
            <a:ext cx="6084887" cy="868362"/>
            <a:chOff x="1774113" y="104757"/>
            <a:chExt cx="6084936" cy="868541"/>
          </a:xfrm>
        </p:grpSpPr>
        <p:sp>
          <p:nvSpPr>
            <p:cNvPr id="18" name="Google Shape;18;p73"/>
            <p:cNvSpPr txBox="1"/>
            <p:nvPr/>
          </p:nvSpPr>
          <p:spPr>
            <a:xfrm>
              <a:off x="1774113" y="104757"/>
              <a:ext cx="6084936" cy="554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i="0" lang="en-US" sz="3000" u="non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COMPUTER ORGANIZATION AND DESIGN</a:t>
              </a:r>
              <a:endParaRPr/>
            </a:p>
          </p:txBody>
        </p:sp>
        <p:sp>
          <p:nvSpPr>
            <p:cNvPr id="19" name="Google Shape;19;p73"/>
            <p:cNvSpPr txBox="1"/>
            <p:nvPr/>
          </p:nvSpPr>
          <p:spPr>
            <a:xfrm>
              <a:off x="2844096" y="573166"/>
              <a:ext cx="3957669" cy="4001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 Hardware/Software Interface</a:t>
              </a:r>
              <a:endParaRPr/>
            </a:p>
          </p:txBody>
        </p:sp>
      </p:grpSp>
      <p:grpSp>
        <p:nvGrpSpPr>
          <p:cNvPr id="20" name="Google Shape;20;p73"/>
          <p:cNvGrpSpPr/>
          <p:nvPr/>
        </p:nvGrpSpPr>
        <p:grpSpPr>
          <a:xfrm>
            <a:off x="7999412" y="82550"/>
            <a:ext cx="936625" cy="935037"/>
            <a:chOff x="7999413" y="82550"/>
            <a:chExt cx="936625" cy="935038"/>
          </a:xfrm>
        </p:grpSpPr>
        <p:sp>
          <p:nvSpPr>
            <p:cNvPr id="21" name="Google Shape;21;p73"/>
            <p:cNvSpPr/>
            <p:nvPr/>
          </p:nvSpPr>
          <p:spPr>
            <a:xfrm>
              <a:off x="7999413" y="82550"/>
              <a:ext cx="936625" cy="935038"/>
            </a:xfrm>
            <a:prstGeom prst="star32">
              <a:avLst>
                <a:gd fmla="val 37500" name="adj"/>
              </a:avLst>
            </a:prstGeom>
            <a:solidFill>
              <a:srgbClr val="C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73"/>
            <p:cNvSpPr txBox="1"/>
            <p:nvPr/>
          </p:nvSpPr>
          <p:spPr>
            <a:xfrm>
              <a:off x="8012113" y="293688"/>
              <a:ext cx="917575" cy="614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 Black"/>
                <a:buNone/>
              </a:pPr>
              <a:r>
                <a:rPr b="0" i="0" lang="en-US" sz="14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RISC-V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3" name="Google Shape;23;p73"/>
            <p:cNvSpPr txBox="1"/>
            <p:nvPr/>
          </p:nvSpPr>
          <p:spPr>
            <a:xfrm>
              <a:off x="8107363" y="482600"/>
              <a:ext cx="733425" cy="30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baseline="30000" i="0" lang="en-US" sz="1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nd</a:t>
              </a:r>
              <a:r>
                <a:rPr b="0" i="0" lang="en-US" sz="1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ed.</a:t>
              </a:r>
              <a:endParaRPr/>
            </a:p>
          </p:txBody>
        </p:sp>
      </p:grpSp>
      <p:sp>
        <p:nvSpPr>
          <p:cNvPr id="24" name="Google Shape;24;p7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7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5"/>
          <p:cNvSpPr txBox="1"/>
          <p:nvPr/>
        </p:nvSpPr>
        <p:spPr>
          <a:xfrm>
            <a:off x="468312" y="2603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7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75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75"/>
          <p:cNvSpPr txBox="1"/>
          <p:nvPr/>
        </p:nvSpPr>
        <p:spPr>
          <a:xfrm>
            <a:off x="250825" y="981075"/>
            <a:ext cx="8569325" cy="71437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.jpg" id="35" name="Google Shape;35;p7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270625"/>
            <a:ext cx="1619250" cy="5905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 Black"/>
              <a:buNone/>
            </a:pPr>
            <a:r>
              <a:rPr b="1" i="0" lang="en-US" sz="4400" u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Chapter 2</a:t>
            </a:r>
            <a:endParaRPr/>
          </a:p>
        </p:txBody>
      </p:sp>
      <p:sp>
        <p:nvSpPr>
          <p:cNvPr id="88" name="Google Shape;88;p1"/>
          <p:cNvSpPr txBox="1"/>
          <p:nvPr>
            <p:ph idx="1" type="subTitle"/>
          </p:nvPr>
        </p:nvSpPr>
        <p:spPr>
          <a:xfrm>
            <a:off x="2409825" y="2924175"/>
            <a:ext cx="583247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Instructions: Language of the Computer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8" name="Google Shape;98;p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Instruction Set</a:t>
            </a:r>
            <a:endParaRPr/>
          </a:p>
        </p:txBody>
      </p:sp>
      <p:sp>
        <p:nvSpPr>
          <p:cNvPr id="99" name="Google Shape;99;p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repertoire of instructions of a computer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computers have different instruction sets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with many aspects in common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Early computers had very simple instruction sets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Simplified implementation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Many modern computers also have simple instruction sets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 rot="5400000">
            <a:off x="8017668" y="759618"/>
            <a:ext cx="18859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§2.1 Introduction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0" name="Google Shape;110;p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RISC-V Instruction Set</a:t>
            </a:r>
            <a:endParaRPr/>
          </a:p>
        </p:txBody>
      </p:sp>
      <p:sp>
        <p:nvSpPr>
          <p:cNvPr id="111" name="Google Shape;111;p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as the example throughout the book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Developed at UC Berkeley as open ISA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managed by the RISC-V Foundation (</a:t>
            </a:r>
            <a:r>
              <a:rPr b="0" i="0" lang="en-US" sz="2800" u="sng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riscv.org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Typical of many modern ISAs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See RISC-V Reference Data tear-out card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Similar ISAs have a large share of embedded core market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Applications in consumer electronics, network/storage equipment, cameras, printers, …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1" name="Google Shape;121;p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Arithmetic Operations</a:t>
            </a:r>
            <a:endParaRPr/>
          </a:p>
        </p:txBody>
      </p:sp>
      <p:sp>
        <p:nvSpPr>
          <p:cNvPr id="122" name="Google Shape;122;p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and subtract, three operands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sources and one destination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 a, b, c  // a gets b + c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arithmetic operations have this form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1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Principle 1: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Simplicity favors regularity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Regularity makes implementation simpler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Simplicity enables higher performance at lower cost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 rot="5400000">
            <a:off x="6677818" y="2099468"/>
            <a:ext cx="45656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§2.2 Operations of the Computer Hardware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3" name="Google Shape;133;p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Arithmetic Example</a:t>
            </a:r>
            <a:endParaRPr/>
          </a:p>
        </p:txBody>
      </p:sp>
      <p:sp>
        <p:nvSpPr>
          <p:cNvPr id="134" name="Google Shape;134;p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code: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f = (g + h) - (i + j);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Compiled RISC-V code: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 t0, g, h   // temp t0 = g + h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add t1, i, j   // temp t1 = i + j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add f, t0, t1  // f = t0 - t1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4" name="Google Shape;144;p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Register Operands</a:t>
            </a:r>
            <a:endParaRPr/>
          </a:p>
        </p:txBody>
      </p:sp>
      <p:sp>
        <p:nvSpPr>
          <p:cNvPr id="145" name="Google Shape;145;p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 instructions use register</a:t>
            </a:r>
            <a:b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operands</a:t>
            </a:r>
            <a:endParaRPr/>
          </a:p>
          <a:p>
            <a:pPr indent="-236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 has a 32 × 64-bit register file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for frequently accessed data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64-bit data is called a “doubleword”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 x 64-bit general purpose registers x0 to x31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32-bit data is called a “word”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1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Principle 2: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Smaller is faster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c.f. main memory: millions of locations</a:t>
            </a:r>
            <a:endParaRPr/>
          </a:p>
        </p:txBody>
      </p:sp>
      <p:sp>
        <p:nvSpPr>
          <p:cNvPr id="146" name="Google Shape;146;p6"/>
          <p:cNvSpPr txBox="1"/>
          <p:nvPr/>
        </p:nvSpPr>
        <p:spPr>
          <a:xfrm rot="5400000">
            <a:off x="6734968" y="2042318"/>
            <a:ext cx="44513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§2.3 Operands of the Computer Hardware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Registers</a:t>
            </a:r>
            <a:endParaRPr/>
          </a:p>
        </p:txBody>
      </p:sp>
      <p:sp>
        <p:nvSpPr>
          <p:cNvPr id="152" name="Google Shape;152;p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x0: the constant value 0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x1: return address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x2: stack pointer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x3: global pointer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x4: thread pointer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x5 – x7, x28 – x31: temporaries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x8: frame pointer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x9, x18 – x27: saved registers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x10 – x11: function arguments/results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x12 – x17: function arguments</a:t>
            </a:r>
            <a:endParaRPr/>
          </a:p>
        </p:txBody>
      </p:sp>
      <p:sp>
        <p:nvSpPr>
          <p:cNvPr id="153" name="Google Shape;153;p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3" name="Google Shape;163;p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Register Operand Example</a:t>
            </a:r>
            <a:endParaRPr/>
          </a:p>
        </p:txBody>
      </p:sp>
      <p:sp>
        <p:nvSpPr>
          <p:cNvPr id="164" name="Google Shape;164;p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code: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f = (g + h) - (i + j);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f, …, j in x19, x20, …, x23</a:t>
            </a:r>
            <a:endParaRPr/>
          </a:p>
          <a:p>
            <a:pPr indent="-187959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Compiled RISC-V code: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 x5, x20, x21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add x6, x22, x23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sub x19, x5, x6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74" name="Google Shape;174;p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Memory Operands</a:t>
            </a:r>
            <a:endParaRPr/>
          </a:p>
        </p:txBody>
      </p:sp>
      <p:sp>
        <p:nvSpPr>
          <p:cNvPr id="175" name="Google Shape;175;p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memory used for composite data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Arrays, structures, dynamic data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apply arithmetic operations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 values from memory into registers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 result from register to memory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is byte addressed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address identifies an 8-bit byte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 is Little Endian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Least-significant byte at least address of a word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c.f.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Big Endian: most-significant byte at least address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 does not require words to be aligned in memory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Unlike some other ISAs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5" name="Google Shape;185;p1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Memory Operand Example</a:t>
            </a:r>
            <a:endParaRPr/>
          </a:p>
        </p:txBody>
      </p:sp>
      <p:sp>
        <p:nvSpPr>
          <p:cNvPr id="186" name="Google Shape;186;p1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code: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A[12] = h + A[8];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 in x21, base address of A in x22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Compiled RISC-V code: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Index 8 requires offset of 64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bytes per doubleword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ld		x9, 64(x22)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add		x9, x21, x9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sd		x9, 96(x22)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6" name="Google Shape;196;p1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Registers vs. Memory</a:t>
            </a:r>
            <a:endParaRPr/>
          </a:p>
        </p:txBody>
      </p:sp>
      <p:sp>
        <p:nvSpPr>
          <p:cNvPr id="197" name="Google Shape;197;p1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Registers are faster to access than memory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Operating on memory data requires loads and stores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instructions to be executed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 must use registers for variables as much as possible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spill to memory for less frequently used variables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 optimization is important!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7" name="Google Shape;207;p1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Immediate Operands</a:t>
            </a:r>
            <a:endParaRPr/>
          </a:p>
        </p:txBody>
      </p:sp>
      <p:sp>
        <p:nvSpPr>
          <p:cNvPr id="208" name="Google Shape;208;p1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Constant data specified in an instruction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addi x22, x22, 4</a:t>
            </a:r>
            <a:endParaRPr/>
          </a:p>
          <a:p>
            <a:pPr indent="-22098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the common case fast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 constants are common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Immediate operand avoids a load instruction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8" name="Google Shape;218;p1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Sign Extension</a:t>
            </a:r>
            <a:endParaRPr/>
          </a:p>
        </p:txBody>
      </p:sp>
      <p:sp>
        <p:nvSpPr>
          <p:cNvPr id="219" name="Google Shape;219;p1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Representing a number using more bits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Preserve the numeric value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Replicate the sign bit to the left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c.f. unsigned values: extend with 0s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Examples: 8-bit to 16-bit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+2: </a:t>
            </a: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 0010 =&gt; </a:t>
            </a: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0000 0000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000 0010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–2: </a:t>
            </a: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111 1110 =&gt; </a:t>
            </a: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1111 1111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111 1110</a:t>
            </a:r>
            <a:endParaRPr/>
          </a:p>
          <a:p>
            <a:pPr indent="-201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RISC-V instruction set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lb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 sign-extend loaded byte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lbu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zero-extend loaded byte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29" name="Google Shape;229;p1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Representing Instructions</a:t>
            </a:r>
            <a:endParaRPr/>
          </a:p>
        </p:txBody>
      </p:sp>
      <p:sp>
        <p:nvSpPr>
          <p:cNvPr id="230" name="Google Shape;230;p1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Instructions are encoded in binary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Called machine code</a:t>
            </a:r>
            <a:endParaRPr/>
          </a:p>
          <a:p>
            <a:pPr indent="-2019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 instructions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Encoded as 32-bit instruction words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 number of formats encoding operation code (opcode), register numbers, …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Regularity!</a:t>
            </a:r>
            <a:endParaRPr/>
          </a:p>
        </p:txBody>
      </p:sp>
      <p:sp>
        <p:nvSpPr>
          <p:cNvPr id="231" name="Google Shape;231;p18"/>
          <p:cNvSpPr txBox="1"/>
          <p:nvPr/>
        </p:nvSpPr>
        <p:spPr>
          <a:xfrm rot="5400000">
            <a:off x="6474618" y="2302668"/>
            <a:ext cx="49720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§2.5 Representing Instructions in the Computer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41" name="Google Shape;241;p2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R-format Instructions</a:t>
            </a:r>
            <a:endParaRPr/>
          </a:p>
        </p:txBody>
      </p:sp>
      <p:sp>
        <p:nvSpPr>
          <p:cNvPr id="242" name="Google Shape;242;p20"/>
          <p:cNvSpPr txBox="1"/>
          <p:nvPr>
            <p:ph idx="1" type="body"/>
          </p:nvPr>
        </p:nvSpPr>
        <p:spPr>
          <a:xfrm>
            <a:off x="684212" y="2276475"/>
            <a:ext cx="8270875" cy="3960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fields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opcode: operation code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rd: destination register number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funct3: 3-bit function code (additional opcode)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rs1: the first source register number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rs2: the second source register number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funct7: 7-bit function code (additional opcode)</a:t>
            </a:r>
            <a:endParaRPr/>
          </a:p>
          <a:p>
            <a:pPr indent="-187959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220" lvl="0" marL="342900" rtl="0" algn="l"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3" name="Google Shape;243;p20"/>
          <p:cNvGrpSpPr/>
          <p:nvPr/>
        </p:nvGrpSpPr>
        <p:grpSpPr>
          <a:xfrm>
            <a:off x="1331912" y="1392237"/>
            <a:ext cx="6772275" cy="776287"/>
            <a:chOff x="1331640" y="1391533"/>
            <a:chExt cx="6771978" cy="777698"/>
          </a:xfrm>
        </p:grpSpPr>
        <p:sp>
          <p:nvSpPr>
            <p:cNvPr id="244" name="Google Shape;244;p20"/>
            <p:cNvSpPr txBox="1"/>
            <p:nvPr/>
          </p:nvSpPr>
          <p:spPr>
            <a:xfrm>
              <a:off x="1331640" y="1391533"/>
              <a:ext cx="1296987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funct7</a:t>
              </a:r>
              <a:endParaRPr/>
            </a:p>
          </p:txBody>
        </p:sp>
        <p:sp>
          <p:nvSpPr>
            <p:cNvPr id="245" name="Google Shape;245;p20"/>
            <p:cNvSpPr txBox="1"/>
            <p:nvPr/>
          </p:nvSpPr>
          <p:spPr>
            <a:xfrm>
              <a:off x="2628627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rs2</a:t>
              </a:r>
              <a:endParaRPr/>
            </a:p>
          </p:txBody>
        </p:sp>
        <p:sp>
          <p:nvSpPr>
            <p:cNvPr id="246" name="Google Shape;246;p20"/>
            <p:cNvSpPr txBox="1"/>
            <p:nvPr/>
          </p:nvSpPr>
          <p:spPr>
            <a:xfrm>
              <a:off x="3708127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rs1</a:t>
              </a:r>
              <a:endParaRPr/>
            </a:p>
          </p:txBody>
        </p:sp>
        <p:sp>
          <p:nvSpPr>
            <p:cNvPr id="247" name="Google Shape;247;p20"/>
            <p:cNvSpPr txBox="1"/>
            <p:nvPr/>
          </p:nvSpPr>
          <p:spPr>
            <a:xfrm>
              <a:off x="5727131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rd</a:t>
              </a:r>
              <a:endParaRPr/>
            </a:p>
          </p:txBody>
        </p:sp>
        <p:sp>
          <p:nvSpPr>
            <p:cNvPr id="248" name="Google Shape;248;p20"/>
            <p:cNvSpPr txBox="1"/>
            <p:nvPr/>
          </p:nvSpPr>
          <p:spPr>
            <a:xfrm>
              <a:off x="4789215" y="1391533"/>
              <a:ext cx="936328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funct3</a:t>
              </a:r>
              <a:endParaRPr/>
            </a:p>
          </p:txBody>
        </p:sp>
        <p:sp>
          <p:nvSpPr>
            <p:cNvPr id="249" name="Google Shape;249;p20"/>
            <p:cNvSpPr txBox="1"/>
            <p:nvPr/>
          </p:nvSpPr>
          <p:spPr>
            <a:xfrm>
              <a:off x="6806631" y="1391533"/>
              <a:ext cx="1296987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opcode</a:t>
              </a:r>
              <a:endParaRPr/>
            </a:p>
          </p:txBody>
        </p:sp>
        <p:sp>
          <p:nvSpPr>
            <p:cNvPr id="250" name="Google Shape;250;p20"/>
            <p:cNvSpPr txBox="1"/>
            <p:nvPr/>
          </p:nvSpPr>
          <p:spPr>
            <a:xfrm>
              <a:off x="1619522" y="1828096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bits</a:t>
              </a:r>
              <a:endParaRPr/>
            </a:p>
          </p:txBody>
        </p:sp>
        <p:sp>
          <p:nvSpPr>
            <p:cNvPr id="251" name="Google Shape;251;p20"/>
            <p:cNvSpPr txBox="1"/>
            <p:nvPr/>
          </p:nvSpPr>
          <p:spPr>
            <a:xfrm>
              <a:off x="7094513" y="1830677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bits</a:t>
              </a:r>
              <a:endParaRPr/>
            </a:p>
          </p:txBody>
        </p:sp>
        <p:sp>
          <p:nvSpPr>
            <p:cNvPr id="252" name="Google Shape;252;p20"/>
            <p:cNvSpPr txBox="1"/>
            <p:nvPr/>
          </p:nvSpPr>
          <p:spPr>
            <a:xfrm>
              <a:off x="2846115" y="1828096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/>
            </a:p>
          </p:txBody>
        </p:sp>
        <p:sp>
          <p:nvSpPr>
            <p:cNvPr id="253" name="Google Shape;253;p20"/>
            <p:cNvSpPr txBox="1"/>
            <p:nvPr/>
          </p:nvSpPr>
          <p:spPr>
            <a:xfrm>
              <a:off x="3927202" y="1828096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/>
            </a:p>
          </p:txBody>
        </p:sp>
        <p:sp>
          <p:nvSpPr>
            <p:cNvPr id="254" name="Google Shape;254;p20"/>
            <p:cNvSpPr txBox="1"/>
            <p:nvPr/>
          </p:nvSpPr>
          <p:spPr>
            <a:xfrm>
              <a:off x="5946206" y="1830677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/>
            </a:p>
          </p:txBody>
        </p:sp>
        <p:sp>
          <p:nvSpPr>
            <p:cNvPr id="255" name="Google Shape;255;p20"/>
            <p:cNvSpPr txBox="1"/>
            <p:nvPr/>
          </p:nvSpPr>
          <p:spPr>
            <a:xfrm>
              <a:off x="4860900" y="1828096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bits</a:t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65" name="Google Shape;265;p2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R-format Example</a:t>
            </a:r>
            <a:endParaRPr/>
          </a:p>
        </p:txBody>
      </p:sp>
      <p:sp>
        <p:nvSpPr>
          <p:cNvPr id="266" name="Google Shape;266;p21"/>
          <p:cNvSpPr txBox="1"/>
          <p:nvPr>
            <p:ph idx="1" type="body"/>
          </p:nvPr>
        </p:nvSpPr>
        <p:spPr>
          <a:xfrm>
            <a:off x="684212" y="2492375"/>
            <a:ext cx="8270875" cy="649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 x9,x20,x21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696912" y="4583112"/>
            <a:ext cx="7259637" cy="1417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0000 0001 0101 1010 0000 0100 1011 0011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015A04B3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grpSp>
        <p:nvGrpSpPr>
          <p:cNvPr id="268" name="Google Shape;268;p21"/>
          <p:cNvGrpSpPr/>
          <p:nvPr/>
        </p:nvGrpSpPr>
        <p:grpSpPr>
          <a:xfrm>
            <a:off x="1331912" y="1392237"/>
            <a:ext cx="6772275" cy="776287"/>
            <a:chOff x="1331640" y="1391533"/>
            <a:chExt cx="6771978" cy="777698"/>
          </a:xfrm>
        </p:grpSpPr>
        <p:sp>
          <p:nvSpPr>
            <p:cNvPr id="269" name="Google Shape;269;p21"/>
            <p:cNvSpPr txBox="1"/>
            <p:nvPr/>
          </p:nvSpPr>
          <p:spPr>
            <a:xfrm>
              <a:off x="1331640" y="1391533"/>
              <a:ext cx="1296987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funct7</a:t>
              </a:r>
              <a:endParaRPr/>
            </a:p>
          </p:txBody>
        </p:sp>
        <p:sp>
          <p:nvSpPr>
            <p:cNvPr id="270" name="Google Shape;270;p21"/>
            <p:cNvSpPr txBox="1"/>
            <p:nvPr/>
          </p:nvSpPr>
          <p:spPr>
            <a:xfrm>
              <a:off x="2628627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rs2</a:t>
              </a:r>
              <a:endParaRPr/>
            </a:p>
          </p:txBody>
        </p:sp>
        <p:sp>
          <p:nvSpPr>
            <p:cNvPr id="271" name="Google Shape;271;p21"/>
            <p:cNvSpPr txBox="1"/>
            <p:nvPr/>
          </p:nvSpPr>
          <p:spPr>
            <a:xfrm>
              <a:off x="3708127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rs1</a:t>
              </a:r>
              <a:endParaRPr/>
            </a:p>
          </p:txBody>
        </p:sp>
        <p:sp>
          <p:nvSpPr>
            <p:cNvPr id="272" name="Google Shape;272;p21"/>
            <p:cNvSpPr txBox="1"/>
            <p:nvPr/>
          </p:nvSpPr>
          <p:spPr>
            <a:xfrm>
              <a:off x="5727131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rd</a:t>
              </a:r>
              <a:endParaRPr/>
            </a:p>
          </p:txBody>
        </p:sp>
        <p:sp>
          <p:nvSpPr>
            <p:cNvPr id="273" name="Google Shape;273;p21"/>
            <p:cNvSpPr txBox="1"/>
            <p:nvPr/>
          </p:nvSpPr>
          <p:spPr>
            <a:xfrm>
              <a:off x="4789215" y="1391533"/>
              <a:ext cx="936328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funct3</a:t>
              </a:r>
              <a:endParaRPr/>
            </a:p>
          </p:txBody>
        </p:sp>
        <p:sp>
          <p:nvSpPr>
            <p:cNvPr id="274" name="Google Shape;274;p21"/>
            <p:cNvSpPr txBox="1"/>
            <p:nvPr/>
          </p:nvSpPr>
          <p:spPr>
            <a:xfrm>
              <a:off x="6806631" y="1391533"/>
              <a:ext cx="1296987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opcode</a:t>
              </a:r>
              <a:endParaRPr/>
            </a:p>
          </p:txBody>
        </p:sp>
        <p:sp>
          <p:nvSpPr>
            <p:cNvPr id="275" name="Google Shape;275;p21"/>
            <p:cNvSpPr txBox="1"/>
            <p:nvPr/>
          </p:nvSpPr>
          <p:spPr>
            <a:xfrm>
              <a:off x="1619522" y="1828096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bits</a:t>
              </a:r>
              <a:endParaRPr/>
            </a:p>
          </p:txBody>
        </p:sp>
        <p:sp>
          <p:nvSpPr>
            <p:cNvPr id="276" name="Google Shape;276;p21"/>
            <p:cNvSpPr txBox="1"/>
            <p:nvPr/>
          </p:nvSpPr>
          <p:spPr>
            <a:xfrm>
              <a:off x="7094513" y="1830677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bits</a:t>
              </a:r>
              <a:endParaRPr/>
            </a:p>
          </p:txBody>
        </p:sp>
        <p:sp>
          <p:nvSpPr>
            <p:cNvPr id="277" name="Google Shape;277;p21"/>
            <p:cNvSpPr txBox="1"/>
            <p:nvPr/>
          </p:nvSpPr>
          <p:spPr>
            <a:xfrm>
              <a:off x="2846115" y="1828096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/>
            </a:p>
          </p:txBody>
        </p:sp>
        <p:sp>
          <p:nvSpPr>
            <p:cNvPr id="278" name="Google Shape;278;p21"/>
            <p:cNvSpPr txBox="1"/>
            <p:nvPr/>
          </p:nvSpPr>
          <p:spPr>
            <a:xfrm>
              <a:off x="3927202" y="1828096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/>
            </a:p>
          </p:txBody>
        </p:sp>
        <p:sp>
          <p:nvSpPr>
            <p:cNvPr id="279" name="Google Shape;279;p21"/>
            <p:cNvSpPr txBox="1"/>
            <p:nvPr/>
          </p:nvSpPr>
          <p:spPr>
            <a:xfrm>
              <a:off x="5946206" y="1830677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/>
            </a:p>
          </p:txBody>
        </p:sp>
        <p:sp>
          <p:nvSpPr>
            <p:cNvPr id="280" name="Google Shape;280;p21"/>
            <p:cNvSpPr txBox="1"/>
            <p:nvPr/>
          </p:nvSpPr>
          <p:spPr>
            <a:xfrm>
              <a:off x="4860900" y="1828096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bits</a:t>
              </a:r>
              <a:endParaRPr/>
            </a:p>
          </p:txBody>
        </p:sp>
      </p:grpSp>
      <p:sp>
        <p:nvSpPr>
          <p:cNvPr id="281" name="Google Shape;281;p21"/>
          <p:cNvSpPr txBox="1"/>
          <p:nvPr/>
        </p:nvSpPr>
        <p:spPr>
          <a:xfrm>
            <a:off x="1331912" y="3224212"/>
            <a:ext cx="1296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2628900" y="3224212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3708400" y="3224212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5727700" y="3224212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4789487" y="3224212"/>
            <a:ext cx="936625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286" name="Google Shape;286;p21"/>
          <p:cNvSpPr txBox="1"/>
          <p:nvPr/>
        </p:nvSpPr>
        <p:spPr>
          <a:xfrm>
            <a:off x="6807200" y="3224212"/>
            <a:ext cx="1296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/>
          </a:p>
        </p:txBody>
      </p:sp>
      <p:sp>
        <p:nvSpPr>
          <p:cNvPr id="287" name="Google Shape;287;p21"/>
          <p:cNvSpPr txBox="1"/>
          <p:nvPr/>
        </p:nvSpPr>
        <p:spPr>
          <a:xfrm>
            <a:off x="1331912" y="3887787"/>
            <a:ext cx="1296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0000000</a:t>
            </a:r>
            <a:endParaRPr/>
          </a:p>
        </p:txBody>
      </p:sp>
      <p:sp>
        <p:nvSpPr>
          <p:cNvPr id="288" name="Google Shape;288;p21"/>
          <p:cNvSpPr txBox="1"/>
          <p:nvPr/>
        </p:nvSpPr>
        <p:spPr>
          <a:xfrm>
            <a:off x="2628900" y="3887787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10101</a:t>
            </a:r>
            <a:endParaRPr/>
          </a:p>
        </p:txBody>
      </p:sp>
      <p:sp>
        <p:nvSpPr>
          <p:cNvPr id="289" name="Google Shape;289;p21"/>
          <p:cNvSpPr txBox="1"/>
          <p:nvPr/>
        </p:nvSpPr>
        <p:spPr>
          <a:xfrm>
            <a:off x="3708400" y="3887787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10100</a:t>
            </a:r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5727700" y="3887787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01001</a:t>
            </a:r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4789487" y="3887787"/>
            <a:ext cx="936625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</a:t>
            </a:r>
            <a:endParaRPr/>
          </a:p>
        </p:txBody>
      </p:sp>
      <p:sp>
        <p:nvSpPr>
          <p:cNvPr id="292" name="Google Shape;292;p21"/>
          <p:cNvSpPr txBox="1"/>
          <p:nvPr/>
        </p:nvSpPr>
        <p:spPr>
          <a:xfrm>
            <a:off x="6807200" y="3887787"/>
            <a:ext cx="1296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0110011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02" name="Google Shape;302;p2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I-format Instructions</a:t>
            </a:r>
            <a:endParaRPr/>
          </a:p>
        </p:txBody>
      </p:sp>
      <p:sp>
        <p:nvSpPr>
          <p:cNvPr id="303" name="Google Shape;303;p22"/>
          <p:cNvSpPr txBox="1"/>
          <p:nvPr>
            <p:ph idx="1" type="body"/>
          </p:nvPr>
        </p:nvSpPr>
        <p:spPr>
          <a:xfrm>
            <a:off x="684212" y="2349500"/>
            <a:ext cx="8270875" cy="38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Immediate arithmetic and load instructions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rs1: source or base address register number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immediate: constant operand, or offset added to base address</a:t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2s-complement, sign extended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Principle 3: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Good design demands good compromises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formats complicate decoding, but allow 32-bit instructions uniformly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formats as similar as possible</a:t>
            </a:r>
            <a:endParaRPr/>
          </a:p>
        </p:txBody>
      </p:sp>
      <p:grpSp>
        <p:nvGrpSpPr>
          <p:cNvPr id="304" name="Google Shape;304;p22"/>
          <p:cNvGrpSpPr/>
          <p:nvPr/>
        </p:nvGrpSpPr>
        <p:grpSpPr>
          <a:xfrm>
            <a:off x="1331912" y="1392237"/>
            <a:ext cx="6772275" cy="776287"/>
            <a:chOff x="1331640" y="1391533"/>
            <a:chExt cx="6771978" cy="777698"/>
          </a:xfrm>
        </p:grpSpPr>
        <p:sp>
          <p:nvSpPr>
            <p:cNvPr id="305" name="Google Shape;305;p22"/>
            <p:cNvSpPr txBox="1"/>
            <p:nvPr/>
          </p:nvSpPr>
          <p:spPr>
            <a:xfrm>
              <a:off x="1331640" y="1391533"/>
              <a:ext cx="2374899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immediate</a:t>
              </a:r>
              <a:endParaRPr/>
            </a:p>
          </p:txBody>
        </p:sp>
        <p:sp>
          <p:nvSpPr>
            <p:cNvPr id="306" name="Google Shape;306;p22"/>
            <p:cNvSpPr txBox="1"/>
            <p:nvPr/>
          </p:nvSpPr>
          <p:spPr>
            <a:xfrm>
              <a:off x="3708127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rs1</a:t>
              </a:r>
              <a:endParaRPr/>
            </a:p>
          </p:txBody>
        </p:sp>
        <p:sp>
          <p:nvSpPr>
            <p:cNvPr id="307" name="Google Shape;307;p22"/>
            <p:cNvSpPr txBox="1"/>
            <p:nvPr/>
          </p:nvSpPr>
          <p:spPr>
            <a:xfrm>
              <a:off x="5727131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rd</a:t>
              </a:r>
              <a:endParaRPr/>
            </a:p>
          </p:txBody>
        </p:sp>
        <p:sp>
          <p:nvSpPr>
            <p:cNvPr id="308" name="Google Shape;308;p22"/>
            <p:cNvSpPr txBox="1"/>
            <p:nvPr/>
          </p:nvSpPr>
          <p:spPr>
            <a:xfrm>
              <a:off x="4789215" y="1391533"/>
              <a:ext cx="936328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funct3</a:t>
              </a:r>
              <a:endParaRPr/>
            </a:p>
          </p:txBody>
        </p:sp>
        <p:sp>
          <p:nvSpPr>
            <p:cNvPr id="309" name="Google Shape;309;p22"/>
            <p:cNvSpPr txBox="1"/>
            <p:nvPr/>
          </p:nvSpPr>
          <p:spPr>
            <a:xfrm>
              <a:off x="6806631" y="1391533"/>
              <a:ext cx="1296987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opcode</a:t>
              </a:r>
              <a:endParaRPr/>
            </a:p>
          </p:txBody>
        </p:sp>
        <p:sp>
          <p:nvSpPr>
            <p:cNvPr id="310" name="Google Shape;310;p22"/>
            <p:cNvSpPr txBox="1"/>
            <p:nvPr/>
          </p:nvSpPr>
          <p:spPr>
            <a:xfrm>
              <a:off x="2078304" y="1828096"/>
              <a:ext cx="78899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 bits</a:t>
              </a:r>
              <a:endParaRPr/>
            </a:p>
          </p:txBody>
        </p:sp>
        <p:sp>
          <p:nvSpPr>
            <p:cNvPr id="311" name="Google Shape;311;p22"/>
            <p:cNvSpPr txBox="1"/>
            <p:nvPr/>
          </p:nvSpPr>
          <p:spPr>
            <a:xfrm>
              <a:off x="7094513" y="1830677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bits</a:t>
              </a:r>
              <a:endParaRPr/>
            </a:p>
          </p:txBody>
        </p:sp>
        <p:sp>
          <p:nvSpPr>
            <p:cNvPr id="312" name="Google Shape;312;p22"/>
            <p:cNvSpPr txBox="1"/>
            <p:nvPr/>
          </p:nvSpPr>
          <p:spPr>
            <a:xfrm>
              <a:off x="3927202" y="1828096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/>
            </a:p>
          </p:txBody>
        </p:sp>
        <p:sp>
          <p:nvSpPr>
            <p:cNvPr id="313" name="Google Shape;313;p22"/>
            <p:cNvSpPr txBox="1"/>
            <p:nvPr/>
          </p:nvSpPr>
          <p:spPr>
            <a:xfrm>
              <a:off x="5946206" y="1830677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/>
            </a:p>
          </p:txBody>
        </p:sp>
        <p:sp>
          <p:nvSpPr>
            <p:cNvPr id="314" name="Google Shape;314;p22"/>
            <p:cNvSpPr txBox="1"/>
            <p:nvPr/>
          </p:nvSpPr>
          <p:spPr>
            <a:xfrm>
              <a:off x="4860900" y="1828096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bits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24" name="Google Shape;324;p2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S-format Instructions</a:t>
            </a:r>
            <a:endParaRPr/>
          </a:p>
        </p:txBody>
      </p:sp>
      <p:sp>
        <p:nvSpPr>
          <p:cNvPr id="325" name="Google Shape;325;p23"/>
          <p:cNvSpPr txBox="1"/>
          <p:nvPr>
            <p:ph idx="1" type="body"/>
          </p:nvPr>
        </p:nvSpPr>
        <p:spPr>
          <a:xfrm>
            <a:off x="684212" y="2349500"/>
            <a:ext cx="8270875" cy="38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immediate format for store instructions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rs1: base address register number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rs2: source operand register number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immediate: offset added to base address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Split so that rs1 and rs2 fields always in the same place</a:t>
            </a:r>
            <a:endParaRPr/>
          </a:p>
        </p:txBody>
      </p:sp>
      <p:grpSp>
        <p:nvGrpSpPr>
          <p:cNvPr id="326" name="Google Shape;326;p23"/>
          <p:cNvGrpSpPr/>
          <p:nvPr/>
        </p:nvGrpSpPr>
        <p:grpSpPr>
          <a:xfrm>
            <a:off x="1331912" y="1392237"/>
            <a:ext cx="6772275" cy="776287"/>
            <a:chOff x="1331640" y="1391533"/>
            <a:chExt cx="6771978" cy="777698"/>
          </a:xfrm>
        </p:grpSpPr>
        <p:sp>
          <p:nvSpPr>
            <p:cNvPr id="327" name="Google Shape;327;p23"/>
            <p:cNvSpPr txBox="1"/>
            <p:nvPr/>
          </p:nvSpPr>
          <p:spPr>
            <a:xfrm>
              <a:off x="1331640" y="1391533"/>
              <a:ext cx="1296987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id="328" name="Google Shape;328;p23"/>
            <p:cNvSpPr txBox="1"/>
            <p:nvPr/>
          </p:nvSpPr>
          <p:spPr>
            <a:xfrm>
              <a:off x="2628627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rs2</a:t>
              </a:r>
              <a:endParaRPr/>
            </a:p>
          </p:txBody>
        </p:sp>
        <p:sp>
          <p:nvSpPr>
            <p:cNvPr id="329" name="Google Shape;329;p23"/>
            <p:cNvSpPr txBox="1"/>
            <p:nvPr/>
          </p:nvSpPr>
          <p:spPr>
            <a:xfrm>
              <a:off x="3708127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rs1</a:t>
              </a:r>
              <a:endParaRPr/>
            </a:p>
          </p:txBody>
        </p:sp>
        <p:sp>
          <p:nvSpPr>
            <p:cNvPr id="330" name="Google Shape;330;p23"/>
            <p:cNvSpPr txBox="1"/>
            <p:nvPr/>
          </p:nvSpPr>
          <p:spPr>
            <a:xfrm>
              <a:off x="5727131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id="331" name="Google Shape;331;p23"/>
            <p:cNvSpPr txBox="1"/>
            <p:nvPr/>
          </p:nvSpPr>
          <p:spPr>
            <a:xfrm>
              <a:off x="4789215" y="1391533"/>
              <a:ext cx="936328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funct3</a:t>
              </a:r>
              <a:endParaRPr/>
            </a:p>
          </p:txBody>
        </p:sp>
        <p:sp>
          <p:nvSpPr>
            <p:cNvPr id="332" name="Google Shape;332;p23"/>
            <p:cNvSpPr txBox="1"/>
            <p:nvPr/>
          </p:nvSpPr>
          <p:spPr>
            <a:xfrm>
              <a:off x="6806631" y="1391533"/>
              <a:ext cx="1296987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opcode</a:t>
              </a:r>
              <a:endParaRPr/>
            </a:p>
          </p:txBody>
        </p:sp>
        <p:sp>
          <p:nvSpPr>
            <p:cNvPr id="333" name="Google Shape;333;p23"/>
            <p:cNvSpPr txBox="1"/>
            <p:nvPr/>
          </p:nvSpPr>
          <p:spPr>
            <a:xfrm>
              <a:off x="1619522" y="1828096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bits</a:t>
              </a:r>
              <a:endParaRPr/>
            </a:p>
          </p:txBody>
        </p:sp>
        <p:sp>
          <p:nvSpPr>
            <p:cNvPr id="334" name="Google Shape;334;p23"/>
            <p:cNvSpPr txBox="1"/>
            <p:nvPr/>
          </p:nvSpPr>
          <p:spPr>
            <a:xfrm>
              <a:off x="7094513" y="1830677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bits</a:t>
              </a:r>
              <a:endParaRPr/>
            </a:p>
          </p:txBody>
        </p:sp>
        <p:sp>
          <p:nvSpPr>
            <p:cNvPr id="335" name="Google Shape;335;p23"/>
            <p:cNvSpPr txBox="1"/>
            <p:nvPr/>
          </p:nvSpPr>
          <p:spPr>
            <a:xfrm>
              <a:off x="2846115" y="1828096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/>
            </a:p>
          </p:txBody>
        </p:sp>
        <p:sp>
          <p:nvSpPr>
            <p:cNvPr id="336" name="Google Shape;336;p23"/>
            <p:cNvSpPr txBox="1"/>
            <p:nvPr/>
          </p:nvSpPr>
          <p:spPr>
            <a:xfrm>
              <a:off x="3927202" y="1828096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/>
            </a:p>
          </p:txBody>
        </p:sp>
        <p:sp>
          <p:nvSpPr>
            <p:cNvPr id="337" name="Google Shape;337;p23"/>
            <p:cNvSpPr txBox="1"/>
            <p:nvPr/>
          </p:nvSpPr>
          <p:spPr>
            <a:xfrm>
              <a:off x="5946206" y="1830677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/>
            </a:p>
          </p:txBody>
        </p:sp>
        <p:sp>
          <p:nvSpPr>
            <p:cNvPr id="338" name="Google Shape;338;p23"/>
            <p:cNvSpPr txBox="1"/>
            <p:nvPr/>
          </p:nvSpPr>
          <p:spPr>
            <a:xfrm>
              <a:off x="4860900" y="1828096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bits</a:t>
              </a:r>
              <a:endParaRPr/>
            </a:p>
          </p:txBody>
        </p:sp>
      </p:grpSp>
      <p:sp>
        <p:nvSpPr>
          <p:cNvPr id="339" name="Google Shape;339;p23"/>
          <p:cNvSpPr txBox="1"/>
          <p:nvPr/>
        </p:nvSpPr>
        <p:spPr>
          <a:xfrm>
            <a:off x="1389062" y="1414462"/>
            <a:ext cx="11811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imm[11:5]</a:t>
            </a:r>
            <a:endParaRPr/>
          </a:p>
        </p:txBody>
      </p:sp>
      <p:sp>
        <p:nvSpPr>
          <p:cNvPr id="340" name="Google Shape;340;p23"/>
          <p:cNvSpPr txBox="1"/>
          <p:nvPr/>
        </p:nvSpPr>
        <p:spPr>
          <a:xfrm>
            <a:off x="5735637" y="1414462"/>
            <a:ext cx="10699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imm[4:0]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50" name="Google Shape;350;p2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Stored Program Computers</a:t>
            </a:r>
            <a:endParaRPr/>
          </a:p>
        </p:txBody>
      </p:sp>
      <p:sp>
        <p:nvSpPr>
          <p:cNvPr id="351" name="Google Shape;351;p24"/>
          <p:cNvSpPr txBox="1"/>
          <p:nvPr>
            <p:ph idx="1" type="body"/>
          </p:nvPr>
        </p:nvSpPr>
        <p:spPr>
          <a:xfrm>
            <a:off x="3708400" y="1125537"/>
            <a:ext cx="524668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Instructions represented in binary, just like data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Instructions and data stored in memory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Programs can operate on programs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compilers, linkers, …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Binary compatibility allows compiled programs to work on different computers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Standardized ISAs</a:t>
            </a:r>
            <a:endParaRPr/>
          </a:p>
        </p:txBody>
      </p:sp>
      <p:sp>
        <p:nvSpPr>
          <p:cNvPr id="352" name="Google Shape;352;p24"/>
          <p:cNvSpPr txBox="1"/>
          <p:nvPr/>
        </p:nvSpPr>
        <p:spPr>
          <a:xfrm>
            <a:off x="684212" y="1258887"/>
            <a:ext cx="282575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 Black"/>
              <a:buNone/>
            </a:pPr>
            <a:r>
              <a:rPr b="1" i="0" lang="en-US" sz="2400" u="none">
                <a:solidFill>
                  <a:schemeClr val="folHlink"/>
                </a:solidFill>
                <a:latin typeface="Arial Black"/>
                <a:ea typeface="Arial Black"/>
                <a:cs typeface="Arial Black"/>
                <a:sym typeface="Arial Black"/>
              </a:rPr>
              <a:t>The BIG Picture</a:t>
            </a:r>
            <a:endParaRPr/>
          </a:p>
        </p:txBody>
      </p:sp>
      <p:pic>
        <p:nvPicPr>
          <p:cNvPr descr="f02-07-P374493" id="353" name="Google Shape;35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187" y="2060575"/>
            <a:ext cx="2908300" cy="3846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63" name="Google Shape;363;p2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Logical Operations</a:t>
            </a:r>
            <a:endParaRPr/>
          </a:p>
        </p:txBody>
      </p:sp>
      <p:sp>
        <p:nvSpPr>
          <p:cNvPr id="364" name="Google Shape;364;p25"/>
          <p:cNvSpPr txBox="1"/>
          <p:nvPr>
            <p:ph idx="1" type="body"/>
          </p:nvPr>
        </p:nvSpPr>
        <p:spPr>
          <a:xfrm>
            <a:off x="684212" y="1125537"/>
            <a:ext cx="8270875" cy="690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Instructions for bitwise manipulation</a:t>
            </a:r>
            <a:endParaRPr/>
          </a:p>
        </p:txBody>
      </p:sp>
      <p:graphicFrame>
        <p:nvGraphicFramePr>
          <p:cNvPr id="365" name="Google Shape;365;p25"/>
          <p:cNvGraphicFramePr/>
          <p:nvPr/>
        </p:nvGraphicFramePr>
        <p:xfrm>
          <a:off x="1042987" y="17732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{D472234C-E4BD-48CD-B476-A370AC816E52}</a:tableStyleId>
              </a:tblPr>
              <a:tblGrid>
                <a:gridCol w="2233600"/>
                <a:gridCol w="1366825"/>
                <a:gridCol w="1512875"/>
                <a:gridCol w="2087550"/>
              </a:tblGrid>
              <a:tr h="4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Operation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Java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RISC-V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Shift left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&lt;&lt;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&lt;&lt;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Droid Sans Mono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slli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Shift right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&gt;&gt;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&gt;&gt;&gt;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Droid Sans Mono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srli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Bit-by-bit AND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&amp;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&amp;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Droid Sans Mono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and, andi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Bit-by-bit OR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|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|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Droid Sans Mono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or, ori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Bit-by-bit XOR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^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^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Droid Sans Mono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xor, xori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Bit-by-bit NOT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~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~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</a:tbl>
          </a:graphicData>
        </a:graphic>
      </p:graphicFrame>
      <p:sp>
        <p:nvSpPr>
          <p:cNvPr id="366" name="Google Shape;366;p25"/>
          <p:cNvSpPr txBox="1"/>
          <p:nvPr/>
        </p:nvSpPr>
        <p:spPr>
          <a:xfrm>
            <a:off x="684212" y="5157787"/>
            <a:ext cx="7772400" cy="935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Useful for extracting and inserting groups of bits in a word</a:t>
            </a:r>
            <a:endParaRPr/>
          </a:p>
        </p:txBody>
      </p:sp>
      <p:sp>
        <p:nvSpPr>
          <p:cNvPr id="367" name="Google Shape;367;p25"/>
          <p:cNvSpPr txBox="1"/>
          <p:nvPr/>
        </p:nvSpPr>
        <p:spPr>
          <a:xfrm rot="5400000">
            <a:off x="7662068" y="1115218"/>
            <a:ext cx="25971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§2.6 Logical Operations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77" name="Google Shape;377;p2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Shift Operations</a:t>
            </a:r>
            <a:endParaRPr/>
          </a:p>
        </p:txBody>
      </p:sp>
      <p:sp>
        <p:nvSpPr>
          <p:cNvPr id="378" name="Google Shape;378;p26"/>
          <p:cNvSpPr txBox="1"/>
          <p:nvPr>
            <p:ph idx="1" type="body"/>
          </p:nvPr>
        </p:nvSpPr>
        <p:spPr>
          <a:xfrm>
            <a:off x="684212" y="2349500"/>
            <a:ext cx="8270875" cy="38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immed: how many positions to shift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left logical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left and fill with 0 bits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slli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by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bits multiplies by 2</a:t>
            </a:r>
            <a:r>
              <a:rPr b="0" baseline="3000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right logical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right and fill with 0 bits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srli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by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bits divides by 2</a:t>
            </a:r>
            <a:r>
              <a:rPr b="0" baseline="3000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(unsigned only)</a:t>
            </a:r>
            <a:endParaRPr/>
          </a:p>
        </p:txBody>
      </p:sp>
      <p:sp>
        <p:nvSpPr>
          <p:cNvPr id="379" name="Google Shape;379;p26"/>
          <p:cNvSpPr txBox="1"/>
          <p:nvPr/>
        </p:nvSpPr>
        <p:spPr>
          <a:xfrm>
            <a:off x="3708400" y="1389062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rs1</a:t>
            </a:r>
            <a:endParaRPr/>
          </a:p>
        </p:txBody>
      </p:sp>
      <p:sp>
        <p:nvSpPr>
          <p:cNvPr id="380" name="Google Shape;380;p26"/>
          <p:cNvSpPr txBox="1"/>
          <p:nvPr/>
        </p:nvSpPr>
        <p:spPr>
          <a:xfrm>
            <a:off x="5727700" y="1389062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rd</a:t>
            </a:r>
            <a:endParaRPr/>
          </a:p>
        </p:txBody>
      </p:sp>
      <p:sp>
        <p:nvSpPr>
          <p:cNvPr id="381" name="Google Shape;381;p26"/>
          <p:cNvSpPr txBox="1"/>
          <p:nvPr/>
        </p:nvSpPr>
        <p:spPr>
          <a:xfrm>
            <a:off x="4789487" y="1389062"/>
            <a:ext cx="936625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funct3</a:t>
            </a:r>
            <a:endParaRPr/>
          </a:p>
        </p:txBody>
      </p:sp>
      <p:sp>
        <p:nvSpPr>
          <p:cNvPr id="382" name="Google Shape;382;p26"/>
          <p:cNvSpPr txBox="1"/>
          <p:nvPr/>
        </p:nvSpPr>
        <p:spPr>
          <a:xfrm>
            <a:off x="6807200" y="1389062"/>
            <a:ext cx="1296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opcode</a:t>
            </a:r>
            <a:endParaRPr/>
          </a:p>
        </p:txBody>
      </p:sp>
      <p:sp>
        <p:nvSpPr>
          <p:cNvPr id="383" name="Google Shape;383;p26"/>
          <p:cNvSpPr txBox="1"/>
          <p:nvPr/>
        </p:nvSpPr>
        <p:spPr>
          <a:xfrm>
            <a:off x="1665287" y="1828800"/>
            <a:ext cx="676275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bits</a:t>
            </a:r>
            <a:endParaRPr/>
          </a:p>
        </p:txBody>
      </p:sp>
      <p:sp>
        <p:nvSpPr>
          <p:cNvPr id="384" name="Google Shape;384;p26"/>
          <p:cNvSpPr txBox="1"/>
          <p:nvPr/>
        </p:nvSpPr>
        <p:spPr>
          <a:xfrm>
            <a:off x="7094537" y="1830387"/>
            <a:ext cx="674687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bits</a:t>
            </a:r>
            <a:endParaRPr/>
          </a:p>
        </p:txBody>
      </p:sp>
      <p:sp>
        <p:nvSpPr>
          <p:cNvPr id="385" name="Google Shape;385;p26"/>
          <p:cNvSpPr txBox="1"/>
          <p:nvPr/>
        </p:nvSpPr>
        <p:spPr>
          <a:xfrm>
            <a:off x="3927475" y="1828800"/>
            <a:ext cx="6699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bits</a:t>
            </a:r>
            <a:endParaRPr/>
          </a:p>
        </p:txBody>
      </p:sp>
      <p:sp>
        <p:nvSpPr>
          <p:cNvPr id="386" name="Google Shape;386;p26"/>
          <p:cNvSpPr txBox="1"/>
          <p:nvPr/>
        </p:nvSpPr>
        <p:spPr>
          <a:xfrm>
            <a:off x="5946775" y="1830387"/>
            <a:ext cx="6699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bits</a:t>
            </a:r>
            <a:endParaRPr/>
          </a:p>
        </p:txBody>
      </p:sp>
      <p:sp>
        <p:nvSpPr>
          <p:cNvPr id="387" name="Google Shape;387;p26"/>
          <p:cNvSpPr txBox="1"/>
          <p:nvPr/>
        </p:nvSpPr>
        <p:spPr>
          <a:xfrm>
            <a:off x="4860925" y="1828800"/>
            <a:ext cx="674687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bits</a:t>
            </a:r>
            <a:endParaRPr/>
          </a:p>
        </p:txBody>
      </p:sp>
      <p:sp>
        <p:nvSpPr>
          <p:cNvPr id="388" name="Google Shape;388;p26"/>
          <p:cNvSpPr txBox="1"/>
          <p:nvPr/>
        </p:nvSpPr>
        <p:spPr>
          <a:xfrm>
            <a:off x="1400175" y="1389062"/>
            <a:ext cx="1154112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funct6</a:t>
            </a:r>
            <a:endParaRPr/>
          </a:p>
        </p:txBody>
      </p:sp>
      <p:sp>
        <p:nvSpPr>
          <p:cNvPr id="389" name="Google Shape;389;p26"/>
          <p:cNvSpPr txBox="1"/>
          <p:nvPr/>
        </p:nvSpPr>
        <p:spPr>
          <a:xfrm>
            <a:off x="2554287" y="1389062"/>
            <a:ext cx="1152525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immed</a:t>
            </a:r>
            <a:endParaRPr/>
          </a:p>
        </p:txBody>
      </p:sp>
      <p:sp>
        <p:nvSpPr>
          <p:cNvPr id="390" name="Google Shape;390;p26"/>
          <p:cNvSpPr txBox="1"/>
          <p:nvPr/>
        </p:nvSpPr>
        <p:spPr>
          <a:xfrm>
            <a:off x="2833687" y="1828800"/>
            <a:ext cx="674687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bits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00" name="Google Shape;400;p27"/>
          <p:cNvSpPr txBox="1"/>
          <p:nvPr/>
        </p:nvSpPr>
        <p:spPr>
          <a:xfrm>
            <a:off x="7235825" y="3362325"/>
            <a:ext cx="431800" cy="16049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AND Operations</a:t>
            </a:r>
            <a:endParaRPr/>
          </a:p>
        </p:txBody>
      </p:sp>
      <p:sp>
        <p:nvSpPr>
          <p:cNvPr id="402" name="Google Shape;402;p27"/>
          <p:cNvSpPr txBox="1"/>
          <p:nvPr>
            <p:ph idx="1" type="body"/>
          </p:nvPr>
        </p:nvSpPr>
        <p:spPr>
          <a:xfrm>
            <a:off x="684212" y="1125537"/>
            <a:ext cx="8270875" cy="207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Useful to mask bits in a word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some bits, clear others to 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and x9,x10,x11</a:t>
            </a:r>
            <a:endParaRPr/>
          </a:p>
        </p:txBody>
      </p:sp>
      <p:sp>
        <p:nvSpPr>
          <p:cNvPr id="403" name="Google Shape;403;p27"/>
          <p:cNvSpPr txBox="1"/>
          <p:nvPr/>
        </p:nvSpPr>
        <p:spPr>
          <a:xfrm>
            <a:off x="1181100" y="3403600"/>
            <a:ext cx="7783512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00000000 00000000 00000000 00000000 00000000 00000000 00001101 11000000</a:t>
            </a:r>
            <a:endParaRPr/>
          </a:p>
        </p:txBody>
      </p:sp>
      <p:sp>
        <p:nvSpPr>
          <p:cNvPr id="404" name="Google Shape;404;p27"/>
          <p:cNvSpPr txBox="1"/>
          <p:nvPr/>
        </p:nvSpPr>
        <p:spPr>
          <a:xfrm>
            <a:off x="539750" y="3403600"/>
            <a:ext cx="5984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x10</a:t>
            </a:r>
            <a:endParaRPr/>
          </a:p>
        </p:txBody>
      </p:sp>
      <p:sp>
        <p:nvSpPr>
          <p:cNvPr id="405" name="Google Shape;405;p27"/>
          <p:cNvSpPr txBox="1"/>
          <p:nvPr/>
        </p:nvSpPr>
        <p:spPr>
          <a:xfrm>
            <a:off x="539750" y="3963987"/>
            <a:ext cx="5794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x11</a:t>
            </a:r>
            <a:endParaRPr/>
          </a:p>
        </p:txBody>
      </p:sp>
      <p:sp>
        <p:nvSpPr>
          <p:cNvPr id="406" name="Google Shape;406;p27"/>
          <p:cNvSpPr txBox="1"/>
          <p:nvPr/>
        </p:nvSpPr>
        <p:spPr>
          <a:xfrm>
            <a:off x="539750" y="4611687"/>
            <a:ext cx="4556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x9</a:t>
            </a:r>
            <a:endParaRPr/>
          </a:p>
        </p:txBody>
      </p:sp>
      <p:sp>
        <p:nvSpPr>
          <p:cNvPr id="407" name="Google Shape;407;p27"/>
          <p:cNvSpPr txBox="1"/>
          <p:nvPr/>
        </p:nvSpPr>
        <p:spPr>
          <a:xfrm>
            <a:off x="1181100" y="3987800"/>
            <a:ext cx="7783512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00000000 00000000 00000000 00000000 00000000 00000000 00111100 00000000</a:t>
            </a:r>
            <a:endParaRPr/>
          </a:p>
        </p:txBody>
      </p:sp>
      <p:sp>
        <p:nvSpPr>
          <p:cNvPr id="408" name="Google Shape;408;p27"/>
          <p:cNvSpPr txBox="1"/>
          <p:nvPr/>
        </p:nvSpPr>
        <p:spPr>
          <a:xfrm>
            <a:off x="1181100" y="4568825"/>
            <a:ext cx="7783512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00000000 00000000 00000000 00000000 00000000 00000000 00001100 00000000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18" name="Google Shape;418;p28"/>
          <p:cNvSpPr txBox="1"/>
          <p:nvPr/>
        </p:nvSpPr>
        <p:spPr>
          <a:xfrm>
            <a:off x="7235825" y="3362325"/>
            <a:ext cx="936625" cy="16049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OR Operations</a:t>
            </a:r>
            <a:endParaRPr/>
          </a:p>
        </p:txBody>
      </p:sp>
      <p:sp>
        <p:nvSpPr>
          <p:cNvPr id="420" name="Google Shape;420;p28"/>
          <p:cNvSpPr txBox="1"/>
          <p:nvPr>
            <p:ph idx="1" type="body"/>
          </p:nvPr>
        </p:nvSpPr>
        <p:spPr>
          <a:xfrm>
            <a:off x="684212" y="1125537"/>
            <a:ext cx="8270875" cy="207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Useful to include bits in a word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some bits to 1, leave others unchanged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or x9,x10,x11</a:t>
            </a:r>
            <a:endParaRPr/>
          </a:p>
        </p:txBody>
      </p:sp>
      <p:sp>
        <p:nvSpPr>
          <p:cNvPr id="421" name="Google Shape;421;p28"/>
          <p:cNvSpPr txBox="1"/>
          <p:nvPr/>
        </p:nvSpPr>
        <p:spPr>
          <a:xfrm>
            <a:off x="1181100" y="3403600"/>
            <a:ext cx="7783512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00000000 00000000 00000000 00000000 00000000 00000000 00001101 11000000</a:t>
            </a:r>
            <a:endParaRPr/>
          </a:p>
        </p:txBody>
      </p:sp>
      <p:sp>
        <p:nvSpPr>
          <p:cNvPr id="422" name="Google Shape;422;p28"/>
          <p:cNvSpPr txBox="1"/>
          <p:nvPr/>
        </p:nvSpPr>
        <p:spPr>
          <a:xfrm>
            <a:off x="539750" y="3403600"/>
            <a:ext cx="5984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x10</a:t>
            </a:r>
            <a:endParaRPr/>
          </a:p>
        </p:txBody>
      </p:sp>
      <p:sp>
        <p:nvSpPr>
          <p:cNvPr id="423" name="Google Shape;423;p28"/>
          <p:cNvSpPr txBox="1"/>
          <p:nvPr/>
        </p:nvSpPr>
        <p:spPr>
          <a:xfrm>
            <a:off x="539750" y="3963987"/>
            <a:ext cx="5794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x11</a:t>
            </a:r>
            <a:endParaRPr/>
          </a:p>
        </p:txBody>
      </p:sp>
      <p:sp>
        <p:nvSpPr>
          <p:cNvPr id="424" name="Google Shape;424;p28"/>
          <p:cNvSpPr txBox="1"/>
          <p:nvPr/>
        </p:nvSpPr>
        <p:spPr>
          <a:xfrm>
            <a:off x="539750" y="4611687"/>
            <a:ext cx="4556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x9</a:t>
            </a:r>
            <a:endParaRPr/>
          </a:p>
        </p:txBody>
      </p:sp>
      <p:sp>
        <p:nvSpPr>
          <p:cNvPr id="425" name="Google Shape;425;p28"/>
          <p:cNvSpPr txBox="1"/>
          <p:nvPr/>
        </p:nvSpPr>
        <p:spPr>
          <a:xfrm>
            <a:off x="1181100" y="3987800"/>
            <a:ext cx="7783512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00000000 00000000 00000000 00000000 00000000 00000000 00111100 00000000</a:t>
            </a:r>
            <a:endParaRPr/>
          </a:p>
        </p:txBody>
      </p:sp>
      <p:sp>
        <p:nvSpPr>
          <p:cNvPr id="426" name="Google Shape;426;p28"/>
          <p:cNvSpPr txBox="1"/>
          <p:nvPr/>
        </p:nvSpPr>
        <p:spPr>
          <a:xfrm>
            <a:off x="1181100" y="4568825"/>
            <a:ext cx="7783512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00000000 00000000 00000000 00000000 00000000 00000000 00111101 11000000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36" name="Google Shape;436;p29"/>
          <p:cNvSpPr txBox="1"/>
          <p:nvPr/>
        </p:nvSpPr>
        <p:spPr>
          <a:xfrm>
            <a:off x="7451725" y="3362325"/>
            <a:ext cx="792162" cy="16049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XOR Operations</a:t>
            </a:r>
            <a:endParaRPr/>
          </a:p>
        </p:txBody>
      </p:sp>
      <p:sp>
        <p:nvSpPr>
          <p:cNvPr id="438" name="Google Shape;438;p29"/>
          <p:cNvSpPr txBox="1"/>
          <p:nvPr>
            <p:ph idx="1" type="body"/>
          </p:nvPr>
        </p:nvSpPr>
        <p:spPr>
          <a:xfrm>
            <a:off x="684212" y="1125537"/>
            <a:ext cx="8270875" cy="207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Differencing operation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some bits to 1, leave others unchanged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xor x9,x10,x12  // NOT operation</a:t>
            </a:r>
            <a:endParaRPr/>
          </a:p>
        </p:txBody>
      </p:sp>
      <p:sp>
        <p:nvSpPr>
          <p:cNvPr id="439" name="Google Shape;439;p29"/>
          <p:cNvSpPr txBox="1"/>
          <p:nvPr/>
        </p:nvSpPr>
        <p:spPr>
          <a:xfrm>
            <a:off x="1181100" y="3403600"/>
            <a:ext cx="7854950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00000000 00000000 00000000 00000000 00000000 00000000 00001101  11000000</a:t>
            </a:r>
            <a:endParaRPr/>
          </a:p>
        </p:txBody>
      </p:sp>
      <p:sp>
        <p:nvSpPr>
          <p:cNvPr id="440" name="Google Shape;440;p29"/>
          <p:cNvSpPr txBox="1"/>
          <p:nvPr/>
        </p:nvSpPr>
        <p:spPr>
          <a:xfrm>
            <a:off x="539750" y="3403600"/>
            <a:ext cx="5984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x10</a:t>
            </a:r>
            <a:endParaRPr/>
          </a:p>
        </p:txBody>
      </p:sp>
      <p:sp>
        <p:nvSpPr>
          <p:cNvPr id="441" name="Google Shape;441;p29"/>
          <p:cNvSpPr txBox="1"/>
          <p:nvPr/>
        </p:nvSpPr>
        <p:spPr>
          <a:xfrm>
            <a:off x="539750" y="3963987"/>
            <a:ext cx="5984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x12</a:t>
            </a:r>
            <a:endParaRPr/>
          </a:p>
        </p:txBody>
      </p:sp>
      <p:sp>
        <p:nvSpPr>
          <p:cNvPr id="442" name="Google Shape;442;p29"/>
          <p:cNvSpPr txBox="1"/>
          <p:nvPr/>
        </p:nvSpPr>
        <p:spPr>
          <a:xfrm>
            <a:off x="539750" y="4611687"/>
            <a:ext cx="4556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x9</a:t>
            </a:r>
            <a:endParaRPr/>
          </a:p>
        </p:txBody>
      </p:sp>
      <p:sp>
        <p:nvSpPr>
          <p:cNvPr id="443" name="Google Shape;443;p29"/>
          <p:cNvSpPr txBox="1"/>
          <p:nvPr/>
        </p:nvSpPr>
        <p:spPr>
          <a:xfrm>
            <a:off x="1181100" y="3987800"/>
            <a:ext cx="7854950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11111111    11111111  11111111   11111111   11111111   11111111   11111111   11111111</a:t>
            </a:r>
            <a:endParaRPr/>
          </a:p>
        </p:txBody>
      </p:sp>
      <p:sp>
        <p:nvSpPr>
          <p:cNvPr id="444" name="Google Shape;444;p29"/>
          <p:cNvSpPr txBox="1"/>
          <p:nvPr/>
        </p:nvSpPr>
        <p:spPr>
          <a:xfrm>
            <a:off x="1181100" y="4568825"/>
            <a:ext cx="7854950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11111111    11111111  11111111   11111111   11111111   11111111   11110010  00111111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54" name="Google Shape;454;p3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Conditional Operations</a:t>
            </a:r>
            <a:endParaRPr/>
          </a:p>
        </p:txBody>
      </p:sp>
      <p:sp>
        <p:nvSpPr>
          <p:cNvPr id="455" name="Google Shape;455;p3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 to a labeled instruction if a condition is true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Otherwise, continue sequentially</a:t>
            </a:r>
            <a:endParaRPr/>
          </a:p>
          <a:p>
            <a:pPr indent="-201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beq rs1, rs2, L1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(rs1 == rs2) branch to instruction labeled L1</a:t>
            </a:r>
            <a:endParaRPr/>
          </a:p>
          <a:p>
            <a:pPr indent="-187959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bne rs1, rs2, L1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(rs1 != rs2) branch to instruction labeled L1</a:t>
            </a:r>
            <a:endParaRPr/>
          </a:p>
          <a:p>
            <a:pPr indent="-251459" lvl="0" marL="342900" rtl="0" algn="l"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0"/>
          <p:cNvSpPr txBox="1"/>
          <p:nvPr/>
        </p:nvSpPr>
        <p:spPr>
          <a:xfrm rot="5400000">
            <a:off x="6938168" y="1839118"/>
            <a:ext cx="40449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§2.7 Instructions for Making Decisions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66" name="Google Shape;466;p3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Compiling If Statements</a:t>
            </a:r>
            <a:endParaRPr/>
          </a:p>
        </p:txBody>
      </p:sp>
      <p:sp>
        <p:nvSpPr>
          <p:cNvPr id="467" name="Google Shape;467;p31"/>
          <p:cNvSpPr txBox="1"/>
          <p:nvPr>
            <p:ph idx="1" type="body"/>
          </p:nvPr>
        </p:nvSpPr>
        <p:spPr>
          <a:xfrm>
            <a:off x="684212" y="1125537"/>
            <a:ext cx="845978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code: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if (i==j) f = g+h;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else f = g-h;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f, g, … in x19, x20, …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Compiled RISC-V code: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      bne x22, x23, Else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add x19, x20, x21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beq x0,x0,Exit // unconditional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Else: sub x19, x20, x21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Exit: …</a:t>
            </a:r>
            <a:endParaRPr/>
          </a:p>
        </p:txBody>
      </p:sp>
      <p:sp>
        <p:nvSpPr>
          <p:cNvPr id="468" name="Google Shape;468;p31"/>
          <p:cNvSpPr/>
          <p:nvPr/>
        </p:nvSpPr>
        <p:spPr>
          <a:xfrm>
            <a:off x="3563937" y="5972175"/>
            <a:ext cx="3529012" cy="4032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8879" y="-6180"/>
                </a:moveTo>
                <a:lnTo>
                  <a:pt x="7348" y="-559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Assembler calculates addresses</a:t>
            </a:r>
            <a:endParaRPr/>
          </a:p>
        </p:txBody>
      </p:sp>
      <p:pic>
        <p:nvPicPr>
          <p:cNvPr descr="f02-09-P374493" id="469" name="Google Shape;46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4162" y="1484312"/>
            <a:ext cx="3468687" cy="210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79" name="Google Shape;479;p3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Compiling Loop Statements</a:t>
            </a:r>
            <a:endParaRPr/>
          </a:p>
        </p:txBody>
      </p:sp>
      <p:sp>
        <p:nvSpPr>
          <p:cNvPr id="480" name="Google Shape;480;p3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code: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while (save[i] == k) i += 1;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in x22, k in x24, address of save in x25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Compiled RISC-V code: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</a:t>
            </a: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Loop: slli x10, x22, 3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add  x10, x10, x25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ld   x9, 0(x10)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bne  x9, x24, Exit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  addi x22, x22, 1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beq  x0, x0, Loop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Exit: …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90" name="Google Shape;490;p3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Basic Blocks</a:t>
            </a:r>
            <a:endParaRPr/>
          </a:p>
        </p:txBody>
      </p:sp>
      <p:sp>
        <p:nvSpPr>
          <p:cNvPr id="491" name="Google Shape;491;p33"/>
          <p:cNvSpPr txBox="1"/>
          <p:nvPr>
            <p:ph idx="1" type="body"/>
          </p:nvPr>
        </p:nvSpPr>
        <p:spPr>
          <a:xfrm>
            <a:off x="684212" y="1125537"/>
            <a:ext cx="8270875" cy="2303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basic block is a sequence of instructions with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embedded branches (except at end)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branch targets (except at beginning)</a:t>
            </a:r>
            <a:endParaRPr/>
          </a:p>
        </p:txBody>
      </p:sp>
      <p:grpSp>
        <p:nvGrpSpPr>
          <p:cNvPr id="492" name="Google Shape;492;p33"/>
          <p:cNvGrpSpPr/>
          <p:nvPr/>
        </p:nvGrpSpPr>
        <p:grpSpPr>
          <a:xfrm>
            <a:off x="755650" y="3573462"/>
            <a:ext cx="3311525" cy="2592387"/>
            <a:chOff x="1429" y="2296"/>
            <a:chExt cx="2086" cy="1633"/>
          </a:xfrm>
        </p:grpSpPr>
        <p:sp>
          <p:nvSpPr>
            <p:cNvPr id="493" name="Google Shape;493;p33"/>
            <p:cNvSpPr txBox="1"/>
            <p:nvPr/>
          </p:nvSpPr>
          <p:spPr>
            <a:xfrm>
              <a:off x="1791" y="2614"/>
              <a:ext cx="1270" cy="1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33"/>
            <p:cNvSpPr txBox="1"/>
            <p:nvPr/>
          </p:nvSpPr>
          <p:spPr>
            <a:xfrm>
              <a:off x="1791" y="2750"/>
              <a:ext cx="1270" cy="1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33"/>
            <p:cNvSpPr txBox="1"/>
            <p:nvPr/>
          </p:nvSpPr>
          <p:spPr>
            <a:xfrm>
              <a:off x="1791" y="2886"/>
              <a:ext cx="1270" cy="1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33"/>
            <p:cNvSpPr txBox="1"/>
            <p:nvPr/>
          </p:nvSpPr>
          <p:spPr>
            <a:xfrm>
              <a:off x="1791" y="3022"/>
              <a:ext cx="1270" cy="1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33"/>
            <p:cNvSpPr txBox="1"/>
            <p:nvPr/>
          </p:nvSpPr>
          <p:spPr>
            <a:xfrm>
              <a:off x="1791" y="3158"/>
              <a:ext cx="1270" cy="1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33"/>
            <p:cNvSpPr txBox="1"/>
            <p:nvPr/>
          </p:nvSpPr>
          <p:spPr>
            <a:xfrm>
              <a:off x="1791" y="3294"/>
              <a:ext cx="1270" cy="1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33"/>
            <p:cNvSpPr txBox="1"/>
            <p:nvPr/>
          </p:nvSpPr>
          <p:spPr>
            <a:xfrm>
              <a:off x="1791" y="3430"/>
              <a:ext cx="1270" cy="1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00" name="Google Shape;500;p33"/>
            <p:cNvCxnSpPr/>
            <p:nvPr/>
          </p:nvCxnSpPr>
          <p:spPr>
            <a:xfrm>
              <a:off x="2426" y="2296"/>
              <a:ext cx="0" cy="31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501" name="Google Shape;501;p33"/>
            <p:cNvCxnSpPr/>
            <p:nvPr/>
          </p:nvCxnSpPr>
          <p:spPr>
            <a:xfrm>
              <a:off x="2426" y="2614"/>
              <a:ext cx="0" cy="90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502" name="Google Shape;502;p33"/>
            <p:cNvCxnSpPr/>
            <p:nvPr/>
          </p:nvCxnSpPr>
          <p:spPr>
            <a:xfrm>
              <a:off x="2426" y="3521"/>
              <a:ext cx="0" cy="40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503" name="Google Shape;503;p33"/>
            <p:cNvCxnSpPr/>
            <p:nvPr/>
          </p:nvCxnSpPr>
          <p:spPr>
            <a:xfrm>
              <a:off x="2426" y="3521"/>
              <a:ext cx="1089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504" name="Google Shape;504;p33"/>
            <p:cNvCxnSpPr/>
            <p:nvPr/>
          </p:nvCxnSpPr>
          <p:spPr>
            <a:xfrm>
              <a:off x="1429" y="2659"/>
              <a:ext cx="363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505" name="Google Shape;505;p33"/>
            <p:cNvSpPr txBox="1"/>
            <p:nvPr/>
          </p:nvSpPr>
          <p:spPr>
            <a:xfrm>
              <a:off x="1791" y="2478"/>
              <a:ext cx="1270" cy="136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33"/>
            <p:cNvSpPr txBox="1"/>
            <p:nvPr/>
          </p:nvSpPr>
          <p:spPr>
            <a:xfrm>
              <a:off x="1791" y="2341"/>
              <a:ext cx="1270" cy="136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33"/>
            <p:cNvSpPr txBox="1"/>
            <p:nvPr/>
          </p:nvSpPr>
          <p:spPr>
            <a:xfrm>
              <a:off x="1791" y="3566"/>
              <a:ext cx="1270" cy="136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33"/>
            <p:cNvSpPr txBox="1"/>
            <p:nvPr/>
          </p:nvSpPr>
          <p:spPr>
            <a:xfrm>
              <a:off x="1791" y="3702"/>
              <a:ext cx="1270" cy="136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9" name="Google Shape;509;p33"/>
          <p:cNvSpPr txBox="1"/>
          <p:nvPr/>
        </p:nvSpPr>
        <p:spPr>
          <a:xfrm>
            <a:off x="4211637" y="3716337"/>
            <a:ext cx="4670425" cy="2376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compiler identifies basic blocks for optimization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advanced processor can accelerate execution of basic blocks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19" name="Google Shape;519;p3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More Conditional Operations</a:t>
            </a:r>
            <a:endParaRPr/>
          </a:p>
        </p:txBody>
      </p:sp>
      <p:sp>
        <p:nvSpPr>
          <p:cNvPr id="520" name="Google Shape;520;p3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blt rs1, rs2, L1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(rs1 &lt; rs2) branch to instruction labeled L1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bge rs1, rs2, L1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(rs1 &gt;= rs2) branch to instruction labeled L1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(a &gt; b) a += 1;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in x22, b in x23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bge  x23, x22, Exit       // branch if b &gt;= 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addi x22, x22, 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Exit: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30" name="Google Shape;530;p3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Signed vs. Unsigned</a:t>
            </a:r>
            <a:endParaRPr/>
          </a:p>
        </p:txBody>
      </p:sp>
      <p:sp>
        <p:nvSpPr>
          <p:cNvPr id="531" name="Google Shape;531;p3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Signed comparison: blt, bge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Unsigned comparison: bltu, bgeu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x22 =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1111 1111 1111 1111 1111 1111 1111 1111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x23 =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0000 0000 0000 0000 0000 0000 0000 0001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x22 &lt; x23 // signed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 &lt; +1</a:t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x22 &gt; x23 // unsigned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+4,294,967,295 &gt; +1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41" name="Google Shape;541;p3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Procedure Calling</a:t>
            </a:r>
            <a:endParaRPr/>
          </a:p>
        </p:txBody>
      </p:sp>
      <p:sp>
        <p:nvSpPr>
          <p:cNvPr id="542" name="Google Shape;542;p3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Steps required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 parameters in registers x10 to x17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Transfer control to procedure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Acquire storage for procedure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 procedure’s operations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 result in register for caller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 to place of call (address in x1)</a:t>
            </a:r>
            <a:endParaRPr/>
          </a:p>
        </p:txBody>
      </p:sp>
      <p:sp>
        <p:nvSpPr>
          <p:cNvPr id="543" name="Google Shape;543;p36"/>
          <p:cNvSpPr txBox="1"/>
          <p:nvPr/>
        </p:nvSpPr>
        <p:spPr>
          <a:xfrm rot="5400000">
            <a:off x="6265068" y="2512218"/>
            <a:ext cx="53911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§2.8 Supporting Procedures in Computer Hardware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53" name="Google Shape;553;p3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Procedure Call Instructions</a:t>
            </a:r>
            <a:endParaRPr/>
          </a:p>
        </p:txBody>
      </p:sp>
      <p:sp>
        <p:nvSpPr>
          <p:cNvPr id="554" name="Google Shape;554;p3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Procedure call: jump and link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jal x1, ProcedureLabel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Address of following instruction put in x1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Jumps to target address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Procedure return: jump and link register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jalr x0, 0(x1)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Like jal, but jumps to 0 + address in x1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x0 as rd (x0 cannot be changed)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also be used for computed jumps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for case/switch statements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64" name="Google Shape;564;p3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Leaf Procedure Example</a:t>
            </a:r>
            <a:endParaRPr/>
          </a:p>
        </p:txBody>
      </p:sp>
      <p:sp>
        <p:nvSpPr>
          <p:cNvPr id="565" name="Google Shape;565;p3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code: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long long int leaf_example (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long long int g, long long int h,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long long int i, long long int j) {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long long int f;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f = (g + h) - (i + j);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return f;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}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Arguments g, …, j in x10, …, x13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 in x20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temporaries x5, x6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to save x5, x6, x20 on stack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9"/>
          <p:cNvSpPr txBox="1"/>
          <p:nvPr>
            <p:ph idx="1" type="body"/>
          </p:nvPr>
        </p:nvSpPr>
        <p:spPr>
          <a:xfrm>
            <a:off x="684212" y="1054100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 code: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leaf_example: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addi sp,sp,-24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sd   x5,16(sp)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sd   x6,8(sp)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sd   x20,0(sp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  x5,x10,x11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  x6,x12,x1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sub  x20,x5,x6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addi x10,x20,0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ld   x20,0(sp)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ld   x6,8(sp)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ld   x5,16(sp)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addi sp,sp,24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jalr x0,0(x1)</a:t>
            </a:r>
            <a:endParaRPr/>
          </a:p>
          <a:p>
            <a:pPr indent="-266700" lvl="0" marL="342900" rtl="0" algn="l"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575" name="Google Shape;575;p3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76" name="Google Shape;576;p3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Leaf Procedure Example</a:t>
            </a:r>
            <a:endParaRPr/>
          </a:p>
        </p:txBody>
      </p:sp>
      <p:sp>
        <p:nvSpPr>
          <p:cNvPr id="577" name="Google Shape;577;p39"/>
          <p:cNvSpPr txBox="1"/>
          <p:nvPr/>
        </p:nvSpPr>
        <p:spPr>
          <a:xfrm>
            <a:off x="4932362" y="1884362"/>
            <a:ext cx="27940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Save x5, x6, x20 on stack</a:t>
            </a:r>
            <a:endParaRPr/>
          </a:p>
        </p:txBody>
      </p:sp>
      <p:sp>
        <p:nvSpPr>
          <p:cNvPr id="578" name="Google Shape;578;p39"/>
          <p:cNvSpPr txBox="1"/>
          <p:nvPr/>
        </p:nvSpPr>
        <p:spPr>
          <a:xfrm>
            <a:off x="4897437" y="3243262"/>
            <a:ext cx="13271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x5 = g + h</a:t>
            </a:r>
            <a:endParaRPr/>
          </a:p>
        </p:txBody>
      </p:sp>
      <p:sp>
        <p:nvSpPr>
          <p:cNvPr id="579" name="Google Shape;579;p39"/>
          <p:cNvSpPr txBox="1"/>
          <p:nvPr/>
        </p:nvSpPr>
        <p:spPr>
          <a:xfrm>
            <a:off x="4876800" y="3597275"/>
            <a:ext cx="11684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x6 = i + j</a:t>
            </a:r>
            <a:endParaRPr/>
          </a:p>
        </p:txBody>
      </p:sp>
      <p:sp>
        <p:nvSpPr>
          <p:cNvPr id="580" name="Google Shape;580;p39"/>
          <p:cNvSpPr txBox="1"/>
          <p:nvPr/>
        </p:nvSpPr>
        <p:spPr>
          <a:xfrm>
            <a:off x="4897437" y="3927475"/>
            <a:ext cx="132238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 = x5 – x6</a:t>
            </a:r>
            <a:endParaRPr/>
          </a:p>
        </p:txBody>
      </p:sp>
      <p:sp>
        <p:nvSpPr>
          <p:cNvPr id="581" name="Google Shape;581;p39"/>
          <p:cNvSpPr txBox="1"/>
          <p:nvPr/>
        </p:nvSpPr>
        <p:spPr>
          <a:xfrm>
            <a:off x="4886325" y="4186237"/>
            <a:ext cx="26130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copy f to return register</a:t>
            </a:r>
            <a:endParaRPr/>
          </a:p>
        </p:txBody>
      </p:sp>
      <p:sp>
        <p:nvSpPr>
          <p:cNvPr id="582" name="Google Shape;582;p39"/>
          <p:cNvSpPr txBox="1"/>
          <p:nvPr/>
        </p:nvSpPr>
        <p:spPr>
          <a:xfrm>
            <a:off x="4878387" y="4537075"/>
            <a:ext cx="32226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Resore x5, x6, x20 from stack</a:t>
            </a:r>
            <a:endParaRPr/>
          </a:p>
        </p:txBody>
      </p:sp>
      <p:sp>
        <p:nvSpPr>
          <p:cNvPr id="583" name="Google Shape;583;p39"/>
          <p:cNvSpPr txBox="1"/>
          <p:nvPr/>
        </p:nvSpPr>
        <p:spPr>
          <a:xfrm>
            <a:off x="4932362" y="5867400"/>
            <a:ext cx="17462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Return to caller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Local Data on the Stack</a:t>
            </a:r>
            <a:endParaRPr/>
          </a:p>
        </p:txBody>
      </p:sp>
      <p:sp>
        <p:nvSpPr>
          <p:cNvPr id="589" name="Google Shape;589;p4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590" name="Google Shape;59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2" y="1651000"/>
            <a:ext cx="8024812" cy="314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Register Usage</a:t>
            </a:r>
            <a:endParaRPr/>
          </a:p>
        </p:txBody>
      </p:sp>
      <p:sp>
        <p:nvSpPr>
          <p:cNvPr id="596" name="Google Shape;596;p4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x5 – x7, x28 – x31:  temporary registers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preserved by the callee</a:t>
            </a:r>
            <a:endParaRPr/>
          </a:p>
          <a:p>
            <a:pPr indent="-187959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x8 – x9, x18 – x27:  saved registers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used, the callee saves and restores them</a:t>
            </a:r>
            <a:endParaRPr/>
          </a:p>
        </p:txBody>
      </p:sp>
      <p:sp>
        <p:nvSpPr>
          <p:cNvPr id="597" name="Google Shape;597;p4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07" name="Google Shape;607;p4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Memory Layout</a:t>
            </a:r>
            <a:endParaRPr/>
          </a:p>
        </p:txBody>
      </p:sp>
      <p:sp>
        <p:nvSpPr>
          <p:cNvPr id="608" name="Google Shape;608;p45"/>
          <p:cNvSpPr txBox="1"/>
          <p:nvPr>
            <p:ph idx="1" type="body"/>
          </p:nvPr>
        </p:nvSpPr>
        <p:spPr>
          <a:xfrm>
            <a:off x="684212" y="1125537"/>
            <a:ext cx="4608512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Text: program code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Static data: global variables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static variables in C, constant arrays and strings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x3 (global pointer) initialized to address allowing ±offsets into this segment</a:t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 data: heap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malloc in C, new in Java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Stack: automatic storage</a:t>
            </a:r>
            <a:endParaRPr/>
          </a:p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0025" y="2133600"/>
            <a:ext cx="3663950" cy="2230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19" name="Google Shape;619;p4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Local Data on the Stack</a:t>
            </a:r>
            <a:endParaRPr/>
          </a:p>
        </p:txBody>
      </p:sp>
      <p:sp>
        <p:nvSpPr>
          <p:cNvPr id="620" name="Google Shape;620;p46"/>
          <p:cNvSpPr txBox="1"/>
          <p:nvPr>
            <p:ph idx="1" type="body"/>
          </p:nvPr>
        </p:nvSpPr>
        <p:spPr>
          <a:xfrm>
            <a:off x="684212" y="4581525"/>
            <a:ext cx="8270875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 data allocated by callee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C automatic variables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Procedure frame (activation record)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by some compilers to manage stack storage</a:t>
            </a:r>
            <a:endParaRPr/>
          </a:p>
        </p:txBody>
      </p:sp>
      <p:pic>
        <p:nvPicPr>
          <p:cNvPr id="621" name="Google Shape;62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8887" y="1201737"/>
            <a:ext cx="6332537" cy="30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31" name="Google Shape;631;p4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Character Data</a:t>
            </a:r>
            <a:endParaRPr/>
          </a:p>
        </p:txBody>
      </p:sp>
      <p:sp>
        <p:nvSpPr>
          <p:cNvPr id="632" name="Google Shape;632;p4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Byte-encoded character sets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ASCII: 128 characters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95 graphic, 33 control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Latin-1: 256 characters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ASCII, +96 more graphic characters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Unicode: 32-bit character set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in Java, C++ wide characters, …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of the world’s alphabets, plus symbols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UTF-8, UTF-16: variable-length encodings</a:t>
            </a:r>
            <a:endParaRPr/>
          </a:p>
        </p:txBody>
      </p:sp>
      <p:sp>
        <p:nvSpPr>
          <p:cNvPr id="633" name="Google Shape;633;p47"/>
          <p:cNvSpPr txBox="1"/>
          <p:nvPr/>
        </p:nvSpPr>
        <p:spPr>
          <a:xfrm rot="5400000">
            <a:off x="7198518" y="1578768"/>
            <a:ext cx="35242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§2.9 Communicating with People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4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43" name="Google Shape;643;p48"/>
          <p:cNvSpPr txBox="1"/>
          <p:nvPr>
            <p:ph type="title"/>
          </p:nvPr>
        </p:nvSpPr>
        <p:spPr>
          <a:xfrm>
            <a:off x="684212" y="200025"/>
            <a:ext cx="8259762" cy="708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Byte/Halfword/Word Operations</a:t>
            </a:r>
            <a:endParaRPr/>
          </a:p>
        </p:txBody>
      </p:sp>
      <p:sp>
        <p:nvSpPr>
          <p:cNvPr id="644" name="Google Shape;644;p4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 byte/halfword/word load/store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 byte/halfword/word: Sign extend to 64 bits in rd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lb rd, offset(rs1)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lh rd, offset(rs1)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lw rd, offset(rs1)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 byte/halfword/word unsigned: Zero extend to 64 bits in rd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lbu rd, offset(rs1)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lhu rd, offset(rs1)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lwu rd, offset(rs1)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 byte/halfword/word: Store rightmost 8/16/32 bits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sb rs2, offset(rs1)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sh rs2, offset(rs1)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sw rs2, offset(rs1)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51"/>
          <p:cNvSpPr txBox="1"/>
          <p:nvPr>
            <p:ph idx="1" type="body"/>
          </p:nvPr>
        </p:nvSpPr>
        <p:spPr>
          <a:xfrm>
            <a:off x="684212" y="1125537"/>
            <a:ext cx="8270875" cy="2951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constants are small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12-bit immediate is sufficient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the occasional 32-bit constant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lui rd, constant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Copies 20-bit constant to bits [31:12] of rd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Extends bit 31 to bits [63:32]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Clears bits [11:0] of rd to 0</a:t>
            </a:r>
            <a:endParaRPr/>
          </a:p>
        </p:txBody>
      </p:sp>
      <p:sp>
        <p:nvSpPr>
          <p:cNvPr id="654" name="Google Shape;654;p5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55" name="Google Shape;655;p51"/>
          <p:cNvSpPr txBox="1"/>
          <p:nvPr/>
        </p:nvSpPr>
        <p:spPr>
          <a:xfrm>
            <a:off x="4400550" y="4881562"/>
            <a:ext cx="2611437" cy="339725"/>
          </a:xfrm>
          <a:prstGeom prst="rect">
            <a:avLst/>
          </a:pr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0000 0000 0011 1101 0000</a:t>
            </a:r>
            <a:endParaRPr/>
          </a:p>
        </p:txBody>
      </p:sp>
      <p:sp>
        <p:nvSpPr>
          <p:cNvPr id="656" name="Google Shape;656;p51"/>
          <p:cNvSpPr txBox="1"/>
          <p:nvPr/>
        </p:nvSpPr>
        <p:spPr>
          <a:xfrm>
            <a:off x="46037" y="4881562"/>
            <a:ext cx="2178050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0000 0000 0000 0000</a:t>
            </a:r>
            <a:endParaRPr/>
          </a:p>
        </p:txBody>
      </p:sp>
      <p:sp>
        <p:nvSpPr>
          <p:cNvPr id="657" name="Google Shape;657;p5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32-bit Constants</a:t>
            </a:r>
            <a:endParaRPr/>
          </a:p>
        </p:txBody>
      </p:sp>
      <p:sp>
        <p:nvSpPr>
          <p:cNvPr id="658" name="Google Shape;658;p51"/>
          <p:cNvSpPr txBox="1"/>
          <p:nvPr/>
        </p:nvSpPr>
        <p:spPr>
          <a:xfrm>
            <a:off x="2627312" y="4491037"/>
            <a:ext cx="4262437" cy="430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roid Sans Mono"/>
              <a:buNone/>
            </a:pPr>
            <a:r>
              <a:rPr b="0" i="0" lang="en-US" sz="22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lui x19, 976  // 0x003D0</a:t>
            </a:r>
            <a:endParaRPr/>
          </a:p>
        </p:txBody>
      </p:sp>
      <p:sp>
        <p:nvSpPr>
          <p:cNvPr id="659" name="Google Shape;659;p51"/>
          <p:cNvSpPr txBox="1"/>
          <p:nvPr/>
        </p:nvSpPr>
        <p:spPr>
          <a:xfrm rot="5400000">
            <a:off x="6040437" y="2768600"/>
            <a:ext cx="5875337" cy="3381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§2.10 RISC-V Addressing for Wide Immediates and Addresses</a:t>
            </a:r>
            <a:endParaRPr/>
          </a:p>
        </p:txBody>
      </p:sp>
      <p:sp>
        <p:nvSpPr>
          <p:cNvPr id="660" name="Google Shape;660;p51"/>
          <p:cNvSpPr txBox="1"/>
          <p:nvPr/>
        </p:nvSpPr>
        <p:spPr>
          <a:xfrm>
            <a:off x="2627312" y="5311775"/>
            <a:ext cx="4772025" cy="430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roid Sans Mono"/>
              <a:buNone/>
            </a:pPr>
            <a:r>
              <a:rPr b="0" i="0" lang="en-US" sz="22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addi x19,x19,1280  // 0x500</a:t>
            </a:r>
            <a:endParaRPr/>
          </a:p>
        </p:txBody>
      </p:sp>
      <p:sp>
        <p:nvSpPr>
          <p:cNvPr id="661" name="Google Shape;661;p51"/>
          <p:cNvSpPr txBox="1"/>
          <p:nvPr/>
        </p:nvSpPr>
        <p:spPr>
          <a:xfrm>
            <a:off x="2222500" y="4881562"/>
            <a:ext cx="2179637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0000 0000 0000 0000</a:t>
            </a:r>
            <a:endParaRPr/>
          </a:p>
        </p:txBody>
      </p:sp>
      <p:sp>
        <p:nvSpPr>
          <p:cNvPr id="662" name="Google Shape;662;p51"/>
          <p:cNvSpPr txBox="1"/>
          <p:nvPr/>
        </p:nvSpPr>
        <p:spPr>
          <a:xfrm>
            <a:off x="7010400" y="4881562"/>
            <a:ext cx="1665287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0000 0000 0000</a:t>
            </a:r>
            <a:endParaRPr/>
          </a:p>
        </p:txBody>
      </p:sp>
      <p:sp>
        <p:nvSpPr>
          <p:cNvPr id="663" name="Google Shape;663;p51"/>
          <p:cNvSpPr txBox="1"/>
          <p:nvPr/>
        </p:nvSpPr>
        <p:spPr>
          <a:xfrm>
            <a:off x="4400550" y="5730875"/>
            <a:ext cx="2611437" cy="339725"/>
          </a:xfrm>
          <a:prstGeom prst="rect">
            <a:avLst/>
          </a:pr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0000 0000 0011 1101 0000</a:t>
            </a:r>
            <a:endParaRPr/>
          </a:p>
        </p:txBody>
      </p:sp>
      <p:sp>
        <p:nvSpPr>
          <p:cNvPr id="664" name="Google Shape;664;p51"/>
          <p:cNvSpPr txBox="1"/>
          <p:nvPr/>
        </p:nvSpPr>
        <p:spPr>
          <a:xfrm>
            <a:off x="46037" y="5730875"/>
            <a:ext cx="2178050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0000 0000 0000 0000</a:t>
            </a:r>
            <a:endParaRPr/>
          </a:p>
        </p:txBody>
      </p:sp>
      <p:sp>
        <p:nvSpPr>
          <p:cNvPr id="665" name="Google Shape;665;p51"/>
          <p:cNvSpPr txBox="1"/>
          <p:nvPr/>
        </p:nvSpPr>
        <p:spPr>
          <a:xfrm>
            <a:off x="2222500" y="5730875"/>
            <a:ext cx="2179637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0000 0000 0000 0000</a:t>
            </a:r>
            <a:endParaRPr/>
          </a:p>
        </p:txBody>
      </p:sp>
      <p:sp>
        <p:nvSpPr>
          <p:cNvPr id="666" name="Google Shape;666;p51"/>
          <p:cNvSpPr txBox="1"/>
          <p:nvPr/>
        </p:nvSpPr>
        <p:spPr>
          <a:xfrm>
            <a:off x="7010400" y="5730875"/>
            <a:ext cx="1665287" cy="338137"/>
          </a:xfrm>
          <a:prstGeom prst="rect">
            <a:avLst/>
          </a:prstGeom>
          <a:solidFill>
            <a:srgbClr val="ECEAA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0101 0000 0000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5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76" name="Google Shape;676;p5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Branch Addressing</a:t>
            </a:r>
            <a:endParaRPr/>
          </a:p>
        </p:txBody>
      </p:sp>
      <p:sp>
        <p:nvSpPr>
          <p:cNvPr id="677" name="Google Shape;677;p52"/>
          <p:cNvSpPr txBox="1"/>
          <p:nvPr>
            <p:ph idx="1" type="body"/>
          </p:nvPr>
        </p:nvSpPr>
        <p:spPr>
          <a:xfrm>
            <a:off x="684212" y="1125537"/>
            <a:ext cx="8270875" cy="2381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 instructions specify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Opcode, two registers, target address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branch targets are near branch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Forward or backward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SB format:</a:t>
            </a:r>
            <a:endParaRPr/>
          </a:p>
        </p:txBody>
      </p:sp>
      <p:sp>
        <p:nvSpPr>
          <p:cNvPr id="678" name="Google Shape;678;p52"/>
          <p:cNvSpPr txBox="1"/>
          <p:nvPr/>
        </p:nvSpPr>
        <p:spPr>
          <a:xfrm>
            <a:off x="771525" y="4941887"/>
            <a:ext cx="8183562" cy="1366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PC-relative addressing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address = PC + immediate × 2</a:t>
            </a:r>
            <a:endParaRPr/>
          </a:p>
        </p:txBody>
      </p:sp>
      <p:sp>
        <p:nvSpPr>
          <p:cNvPr id="679" name="Google Shape;679;p52"/>
          <p:cNvSpPr txBox="1"/>
          <p:nvPr/>
        </p:nvSpPr>
        <p:spPr>
          <a:xfrm>
            <a:off x="1331912" y="3957637"/>
            <a:ext cx="1296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680" name="Google Shape;680;p52"/>
          <p:cNvSpPr txBox="1"/>
          <p:nvPr/>
        </p:nvSpPr>
        <p:spPr>
          <a:xfrm>
            <a:off x="2628900" y="3957637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rs2</a:t>
            </a:r>
            <a:endParaRPr/>
          </a:p>
        </p:txBody>
      </p:sp>
      <p:sp>
        <p:nvSpPr>
          <p:cNvPr id="681" name="Google Shape;681;p52"/>
          <p:cNvSpPr txBox="1"/>
          <p:nvPr/>
        </p:nvSpPr>
        <p:spPr>
          <a:xfrm>
            <a:off x="3708400" y="3957637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rs1</a:t>
            </a:r>
            <a:endParaRPr/>
          </a:p>
        </p:txBody>
      </p:sp>
      <p:sp>
        <p:nvSpPr>
          <p:cNvPr id="682" name="Google Shape;682;p52"/>
          <p:cNvSpPr txBox="1"/>
          <p:nvPr/>
        </p:nvSpPr>
        <p:spPr>
          <a:xfrm>
            <a:off x="5727700" y="3957637"/>
            <a:ext cx="788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683" name="Google Shape;683;p52"/>
          <p:cNvSpPr txBox="1"/>
          <p:nvPr/>
        </p:nvSpPr>
        <p:spPr>
          <a:xfrm>
            <a:off x="4789487" y="3957637"/>
            <a:ext cx="936625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funct3</a:t>
            </a:r>
            <a:endParaRPr/>
          </a:p>
        </p:txBody>
      </p:sp>
      <p:sp>
        <p:nvSpPr>
          <p:cNvPr id="684" name="Google Shape;684;p52"/>
          <p:cNvSpPr txBox="1"/>
          <p:nvPr/>
        </p:nvSpPr>
        <p:spPr>
          <a:xfrm>
            <a:off x="6807200" y="3957637"/>
            <a:ext cx="1296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opcode</a:t>
            </a:r>
            <a:endParaRPr/>
          </a:p>
        </p:txBody>
      </p:sp>
      <p:sp>
        <p:nvSpPr>
          <p:cNvPr id="685" name="Google Shape;685;p52"/>
          <p:cNvSpPr txBox="1"/>
          <p:nvPr/>
        </p:nvSpPr>
        <p:spPr>
          <a:xfrm>
            <a:off x="1652587" y="3894137"/>
            <a:ext cx="633412" cy="5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</a:t>
            </a:r>
            <a:b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[10:5]</a:t>
            </a:r>
            <a:endParaRPr/>
          </a:p>
        </p:txBody>
      </p:sp>
      <p:sp>
        <p:nvSpPr>
          <p:cNvPr id="686" name="Google Shape;686;p52"/>
          <p:cNvSpPr txBox="1"/>
          <p:nvPr/>
        </p:nvSpPr>
        <p:spPr>
          <a:xfrm>
            <a:off x="5867400" y="3894137"/>
            <a:ext cx="531812" cy="5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</a:t>
            </a:r>
            <a:b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[4:1]</a:t>
            </a:r>
            <a:endParaRPr/>
          </a:p>
        </p:txBody>
      </p:sp>
      <p:sp>
        <p:nvSpPr>
          <p:cNvPr id="687" name="Google Shape;687;p52"/>
          <p:cNvSpPr txBox="1"/>
          <p:nvPr/>
        </p:nvSpPr>
        <p:spPr>
          <a:xfrm>
            <a:off x="6516687" y="3957637"/>
            <a:ext cx="290512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688" name="Google Shape;688;p52"/>
          <p:cNvSpPr txBox="1"/>
          <p:nvPr/>
        </p:nvSpPr>
        <p:spPr>
          <a:xfrm>
            <a:off x="1041400" y="3957637"/>
            <a:ext cx="290512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689" name="Google Shape;689;p52"/>
          <p:cNvSpPr txBox="1"/>
          <p:nvPr/>
        </p:nvSpPr>
        <p:spPr>
          <a:xfrm>
            <a:off x="771525" y="4572000"/>
            <a:ext cx="822325" cy="296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imm[12]</a:t>
            </a:r>
            <a:endParaRPr/>
          </a:p>
        </p:txBody>
      </p:sp>
      <p:cxnSp>
        <p:nvCxnSpPr>
          <p:cNvPr id="690" name="Google Shape;690;p52"/>
          <p:cNvCxnSpPr/>
          <p:nvPr/>
        </p:nvCxnSpPr>
        <p:spPr>
          <a:xfrm rot="10800000">
            <a:off x="1182687" y="4230687"/>
            <a:ext cx="0" cy="3413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691" name="Google Shape;691;p52"/>
          <p:cNvSpPr txBox="1"/>
          <p:nvPr/>
        </p:nvSpPr>
        <p:spPr>
          <a:xfrm>
            <a:off x="6257925" y="4572000"/>
            <a:ext cx="808037" cy="296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imm[11]</a:t>
            </a:r>
            <a:endParaRPr/>
          </a:p>
        </p:txBody>
      </p:sp>
      <p:cxnSp>
        <p:nvCxnSpPr>
          <p:cNvPr id="692" name="Google Shape;692;p52"/>
          <p:cNvCxnSpPr/>
          <p:nvPr/>
        </p:nvCxnSpPr>
        <p:spPr>
          <a:xfrm rot="10800000">
            <a:off x="6661150" y="4230687"/>
            <a:ext cx="0" cy="3413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5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02" name="Google Shape;702;p5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Jump Addressing</a:t>
            </a:r>
            <a:endParaRPr/>
          </a:p>
        </p:txBody>
      </p:sp>
      <p:sp>
        <p:nvSpPr>
          <p:cNvPr id="703" name="Google Shape;703;p53"/>
          <p:cNvSpPr txBox="1"/>
          <p:nvPr>
            <p:ph idx="1" type="body"/>
          </p:nvPr>
        </p:nvSpPr>
        <p:spPr>
          <a:xfrm>
            <a:off x="684212" y="1125537"/>
            <a:ext cx="8270875" cy="1843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Jump and link (</a:t>
            </a:r>
            <a:r>
              <a:rPr b="0" i="0" lang="en-US" sz="32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jal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target uses 20-bit immediate for larger range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UJ format:</a:t>
            </a:r>
            <a:endParaRPr/>
          </a:p>
        </p:txBody>
      </p:sp>
      <p:sp>
        <p:nvSpPr>
          <p:cNvPr id="704" name="Google Shape;704;p53"/>
          <p:cNvSpPr txBox="1"/>
          <p:nvPr/>
        </p:nvSpPr>
        <p:spPr>
          <a:xfrm>
            <a:off x="684212" y="3933825"/>
            <a:ext cx="7772400" cy="1682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long jumps, eg, to 32-bit absolute address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lui: load address[31:12] to temp register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jalr: add address[11:0] and jump to target</a:t>
            </a:r>
            <a:endParaRPr/>
          </a:p>
        </p:txBody>
      </p:sp>
      <p:sp>
        <p:nvSpPr>
          <p:cNvPr id="705" name="Google Shape;705;p53"/>
          <p:cNvSpPr txBox="1"/>
          <p:nvPr/>
        </p:nvSpPr>
        <p:spPr>
          <a:xfrm>
            <a:off x="5727700" y="2863850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rd</a:t>
            </a:r>
            <a:endParaRPr/>
          </a:p>
        </p:txBody>
      </p:sp>
      <p:sp>
        <p:nvSpPr>
          <p:cNvPr id="706" name="Google Shape;706;p53"/>
          <p:cNvSpPr txBox="1"/>
          <p:nvPr/>
        </p:nvSpPr>
        <p:spPr>
          <a:xfrm>
            <a:off x="6807200" y="2863850"/>
            <a:ext cx="1296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opcode</a:t>
            </a:r>
            <a:endParaRPr/>
          </a:p>
        </p:txBody>
      </p:sp>
      <p:sp>
        <p:nvSpPr>
          <p:cNvPr id="707" name="Google Shape;707;p53"/>
          <p:cNvSpPr txBox="1"/>
          <p:nvPr/>
        </p:nvSpPr>
        <p:spPr>
          <a:xfrm>
            <a:off x="7094537" y="3306762"/>
            <a:ext cx="674687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bits</a:t>
            </a:r>
            <a:endParaRPr/>
          </a:p>
        </p:txBody>
      </p:sp>
      <p:sp>
        <p:nvSpPr>
          <p:cNvPr id="708" name="Google Shape;708;p53"/>
          <p:cNvSpPr txBox="1"/>
          <p:nvPr/>
        </p:nvSpPr>
        <p:spPr>
          <a:xfrm>
            <a:off x="5946775" y="3306762"/>
            <a:ext cx="6699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bits</a:t>
            </a:r>
            <a:endParaRPr/>
          </a:p>
        </p:txBody>
      </p:sp>
      <p:sp>
        <p:nvSpPr>
          <p:cNvPr id="709" name="Google Shape;709;p53"/>
          <p:cNvSpPr txBox="1"/>
          <p:nvPr/>
        </p:nvSpPr>
        <p:spPr>
          <a:xfrm>
            <a:off x="3944937" y="2863850"/>
            <a:ext cx="290512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710" name="Google Shape;710;p53"/>
          <p:cNvSpPr txBox="1"/>
          <p:nvPr/>
        </p:nvSpPr>
        <p:spPr>
          <a:xfrm>
            <a:off x="3686175" y="3478212"/>
            <a:ext cx="808037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imm[11]</a:t>
            </a:r>
            <a:endParaRPr/>
          </a:p>
        </p:txBody>
      </p:sp>
      <p:cxnSp>
        <p:nvCxnSpPr>
          <p:cNvPr id="711" name="Google Shape;711;p53"/>
          <p:cNvCxnSpPr/>
          <p:nvPr/>
        </p:nvCxnSpPr>
        <p:spPr>
          <a:xfrm rot="10800000">
            <a:off x="4090987" y="3138487"/>
            <a:ext cx="0" cy="339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12" name="Google Shape;712;p53"/>
          <p:cNvSpPr txBox="1"/>
          <p:nvPr/>
        </p:nvSpPr>
        <p:spPr>
          <a:xfrm>
            <a:off x="1108075" y="2863850"/>
            <a:ext cx="290512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713" name="Google Shape;713;p53"/>
          <p:cNvSpPr txBox="1"/>
          <p:nvPr/>
        </p:nvSpPr>
        <p:spPr>
          <a:xfrm>
            <a:off x="838200" y="3478212"/>
            <a:ext cx="822325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imm[20]</a:t>
            </a:r>
            <a:endParaRPr/>
          </a:p>
        </p:txBody>
      </p:sp>
      <p:cxnSp>
        <p:nvCxnSpPr>
          <p:cNvPr id="714" name="Google Shape;714;p53"/>
          <p:cNvCxnSpPr/>
          <p:nvPr/>
        </p:nvCxnSpPr>
        <p:spPr>
          <a:xfrm rot="10800000">
            <a:off x="1249362" y="3138487"/>
            <a:ext cx="0" cy="339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15" name="Google Shape;715;p53"/>
          <p:cNvSpPr txBox="1"/>
          <p:nvPr/>
        </p:nvSpPr>
        <p:spPr>
          <a:xfrm>
            <a:off x="4235450" y="2863850"/>
            <a:ext cx="149225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53"/>
          <p:cNvSpPr txBox="1"/>
          <p:nvPr/>
        </p:nvSpPr>
        <p:spPr>
          <a:xfrm>
            <a:off x="1398587" y="2863850"/>
            <a:ext cx="2543175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53"/>
          <p:cNvSpPr txBox="1"/>
          <p:nvPr/>
        </p:nvSpPr>
        <p:spPr>
          <a:xfrm>
            <a:off x="2008187" y="2968625"/>
            <a:ext cx="1198562" cy="296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imm[10:1]</a:t>
            </a:r>
            <a:endParaRPr/>
          </a:p>
        </p:txBody>
      </p:sp>
      <p:sp>
        <p:nvSpPr>
          <p:cNvPr id="718" name="Google Shape;718;p53"/>
          <p:cNvSpPr txBox="1"/>
          <p:nvPr/>
        </p:nvSpPr>
        <p:spPr>
          <a:xfrm>
            <a:off x="4284662" y="2968625"/>
            <a:ext cx="1327150" cy="296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imm[19:12]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Addressing Summary</a:t>
            </a:r>
            <a:endParaRPr/>
          </a:p>
        </p:txBody>
      </p:sp>
      <p:sp>
        <p:nvSpPr>
          <p:cNvPr id="724" name="Google Shape;724;p5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725" name="Google Shape;725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1268412"/>
            <a:ext cx="7559675" cy="488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5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Encoding Summary</a:t>
            </a:r>
            <a:endParaRPr/>
          </a:p>
        </p:txBody>
      </p:sp>
      <p:sp>
        <p:nvSpPr>
          <p:cNvPr id="731" name="Google Shape;731;p5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732" name="Google Shape;73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2" y="1844675"/>
            <a:ext cx="8123237" cy="16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5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42" name="Google Shape;742;p5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Synchronization</a:t>
            </a:r>
            <a:endParaRPr/>
          </a:p>
        </p:txBody>
      </p:sp>
      <p:sp>
        <p:nvSpPr>
          <p:cNvPr id="743" name="Google Shape;743;p5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processors sharing an area of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P1 writes, then P2 reads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race if P1 and P2 don’t synchronize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 depends of order of accesses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 support required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Atomic read/write memory operation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other access to the location allowed between the read and write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Could be a single instruction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atomic swap of register ↔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an atomic pair of instructions</a:t>
            </a:r>
            <a:endParaRPr/>
          </a:p>
        </p:txBody>
      </p:sp>
      <p:sp>
        <p:nvSpPr>
          <p:cNvPr id="744" name="Google Shape;744;p56"/>
          <p:cNvSpPr txBox="1"/>
          <p:nvPr/>
        </p:nvSpPr>
        <p:spPr>
          <a:xfrm rot="5400000">
            <a:off x="6277768" y="2499518"/>
            <a:ext cx="53657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§2.11 Parallelism and Instructions: Synchronization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5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54" name="Google Shape;754;p5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Synchronization in RISC-V</a:t>
            </a:r>
            <a:endParaRPr/>
          </a:p>
        </p:txBody>
      </p:sp>
      <p:sp>
        <p:nvSpPr>
          <p:cNvPr id="755" name="Google Shape;755;p5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 reserved: </a:t>
            </a: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lr.d rd,(rs1)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 from address in rs1 to rd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 reservation on memory address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 conditional: </a:t>
            </a: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sc.d rd,(rs1),rs2</a:t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 from rs2 to address in rs1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Succeeds if location not changed since the </a:t>
            </a: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lr.d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Returns 0 in rd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Fails if location is changed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Returns non-zero value in rd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61"/>
          <p:cNvSpPr txBox="1"/>
          <p:nvPr/>
        </p:nvSpPr>
        <p:spPr>
          <a:xfrm>
            <a:off x="1692275" y="6381750"/>
            <a:ext cx="72723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65" name="Google Shape;765;p61"/>
          <p:cNvSpPr txBox="1"/>
          <p:nvPr>
            <p:ph type="title"/>
          </p:nvPr>
        </p:nvSpPr>
        <p:spPr>
          <a:xfrm>
            <a:off x="684212" y="146050"/>
            <a:ext cx="825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Lessons Learnt</a:t>
            </a:r>
            <a:endParaRPr/>
          </a:p>
        </p:txBody>
      </p:sp>
      <p:sp>
        <p:nvSpPr>
          <p:cNvPr id="766" name="Google Shape;766;p61"/>
          <p:cNvSpPr txBox="1"/>
          <p:nvPr>
            <p:ph idx="1" type="body"/>
          </p:nvPr>
        </p:nvSpPr>
        <p:spPr>
          <a:xfrm>
            <a:off x="684212" y="1125537"/>
            <a:ext cx="8271000" cy="51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count and CPI are not good performance indicators in isolation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 optimizations are sensitive to the algorithm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Java/JIT compiled code is significantly faster than JVM interpreted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Comparable to optimized C in some cases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Nothing can fix a dumb algorithm!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MIPS Instructions</a:t>
            </a:r>
            <a:endParaRPr/>
          </a:p>
        </p:txBody>
      </p:sp>
      <p:sp>
        <p:nvSpPr>
          <p:cNvPr id="776" name="Google Shape;776;p6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MIPS: commercial predecessor to RISC-V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Similar basic set of instructions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32-bit instructions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 general purpose registers, register 0 is always 0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 floating-point registers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accessed only by load/store instructions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Consistent use of addressing modes for all data sizes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conditional branches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&lt;, &lt;=, &gt;, &gt;=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RISC-V: blt, bge, bltu, bgeu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MIPS: slt, sltu (set less than, result is 0 or 1)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use beq, bne to complete the branch</a:t>
            </a:r>
            <a:endParaRPr/>
          </a:p>
          <a:p>
            <a:pPr indent="-187959" lvl="1" marL="74295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22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6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78" name="Google Shape;778;p62"/>
          <p:cNvSpPr txBox="1"/>
          <p:nvPr/>
        </p:nvSpPr>
        <p:spPr>
          <a:xfrm rot="5400000">
            <a:off x="7074693" y="1659731"/>
            <a:ext cx="3771900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§2.16 Real Stuff: MIPS Instructions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88" name="Google Shape;788;p6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Instruction Encoding</a:t>
            </a:r>
            <a:endParaRPr/>
          </a:p>
        </p:txBody>
      </p:sp>
      <p:pic>
        <p:nvPicPr>
          <p:cNvPr id="789" name="Google Shape;789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1365250"/>
            <a:ext cx="7772400" cy="4367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99" name="Google Shape;799;p7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Concluding Remarks</a:t>
            </a:r>
            <a:endParaRPr/>
          </a:p>
        </p:txBody>
      </p:sp>
      <p:sp>
        <p:nvSpPr>
          <p:cNvPr id="800" name="Google Shape;800;p7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principles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Simplicity favors regularity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Smaller is faster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Good design demands good compromises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the common case fast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Layers of software/hardware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Compiler, assembler, hardware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RISC-V: typical of RISC ISAs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c.f. x86</a:t>
            </a:r>
            <a:endParaRPr/>
          </a:p>
        </p:txBody>
      </p:sp>
      <p:sp>
        <p:nvSpPr>
          <p:cNvPr id="801" name="Google Shape;801;p72"/>
          <p:cNvSpPr txBox="1"/>
          <p:nvPr/>
        </p:nvSpPr>
        <p:spPr>
          <a:xfrm rot="5400000">
            <a:off x="7477125" y="1295400"/>
            <a:ext cx="2967037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§2.23 Concluding Remarks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cod4e">
  <a:themeElements>
    <a:clrScheme name="1_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cod4e">
  <a:themeElements>
    <a:clrScheme name="1_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2008-07-27T22:34:41Z</dcterms:created>
  <dc:creator>Peter Ashenden</dc:creator>
</cp:coreProperties>
</file>